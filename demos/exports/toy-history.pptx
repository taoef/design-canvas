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文字和图片均为可编辑元素。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文字和图片均为可编辑元素。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文字和图片均为可编辑元素。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文字和图片均为可编辑元素。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文字和图片均为可编辑元素。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文字和图片均为可编辑元素。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文字和图片均为可编辑元素。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文字和图片均为可编辑元素。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-border"/>
          <p:cNvSpPr/>
          <p:nvPr/>
        </p:nvSpPr>
        <p:spPr>
          <a:xfrm>
            <a:off x="533400" y="781050"/>
            <a:ext cx="11125200" cy="0"/>
          </a:xfrm>
          <a:prstGeom prst="line">
            <a:avLst/>
          </a:prstGeom>
          <a:noFill/>
          <a:ln w="9525">
            <a:solidFill>
              <a:srgbClr val="F7F3E9">
                <a:alpha val="35000"/>
              </a:srgbClr>
            </a:solidFill>
            <a:prstDash val="solid"/>
          </a:ln>
        </p:spPr>
      </p:sp>
      <p:sp>
        <p:nvSpPr>
          <p:cNvPr id="3" name="p1-series"/>
          <p:cNvSpPr/>
          <p:nvPr/>
        </p:nvSpPr>
        <p:spPr>
          <a:xfrm>
            <a:off x="533400" y="419100"/>
            <a:ext cx="169619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75" b="1" spc="225" kern="0" dirty="0">
                <a:solidFill>
                  <a:srgbClr val="F7F3E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PLAY ARCHIVE</a:t>
            </a:r>
            <a:endParaRPr lang="zh-CN" sz="975" dirty="0"/>
          </a:p>
        </p:txBody>
      </p:sp>
      <p:sp>
        <p:nvSpPr>
          <p:cNvPr id="4" name="p1-chapter"/>
          <p:cNvSpPr/>
          <p:nvPr/>
        </p:nvSpPr>
        <p:spPr>
          <a:xfrm>
            <a:off x="10553700" y="419100"/>
            <a:ext cx="11239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75" spc="113" kern="0" dirty="0">
                <a:solidFill>
                  <a:srgbClr val="F7F3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收藏童年的好奇心</a:t>
            </a:r>
            <a:endParaRPr lang="zh-CN" sz="975" dirty="0"/>
          </a:p>
        </p:txBody>
      </p:sp>
      <p:sp>
        <p:nvSpPr>
          <p:cNvPr id="5" name="p1-kicker"/>
          <p:cNvSpPr/>
          <p:nvPr/>
        </p:nvSpPr>
        <p:spPr>
          <a:xfrm>
            <a:off x="533400" y="1633538"/>
            <a:ext cx="2344787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zh-CN" altLang="en-US" sz="975" b="1" spc="225" kern="0" dirty="0">
                <a:solidFill>
                  <a:srgbClr val="F7F3E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LITTLE HISTORY OF TOYS</a:t>
            </a:r>
            <a:endParaRPr lang="zh-CN" sz="975" dirty="0"/>
          </a:p>
        </p:txBody>
      </p:sp>
      <p:sp>
        <p:nvSpPr>
          <p:cNvPr id="6" name="p1-title"/>
          <p:cNvSpPr/>
          <p:nvPr/>
        </p:nvSpPr>
        <p:spPr>
          <a:xfrm>
            <a:off x="533400" y="2009775"/>
            <a:ext cx="3390900" cy="2200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75"/>
              </a:lnSpc>
              <a:buNone/>
            </a:pPr>
            <a:r>
              <a:rPr lang="zh-CN" altLang="en-US" sz="8325" b="1" spc="-525" kern="0" dirty="0">
                <a:solidFill>
                  <a:srgbClr val="F7F3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玩具
</a:t>
            </a:r>
            <a:pPr algn="l" indent="0" marL="0">
              <a:lnSpc>
                <a:spcPts val="8575"/>
              </a:lnSpc>
              <a:buNone/>
            </a:pPr>
            <a:r>
              <a:rPr lang="zh-CN" altLang="en-US" sz="8325" b="1" spc="-525" kern="0" dirty="0">
                <a:solidFill>
                  <a:srgbClr val="F7F3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简史</a:t>
            </a:r>
            <a:endParaRPr lang="zh-CN" sz="8325" dirty="0"/>
          </a:p>
        </p:txBody>
      </p:sp>
      <p:sp>
        <p:nvSpPr>
          <p:cNvPr id="7" name="p1-subtitle"/>
          <p:cNvSpPr/>
          <p:nvPr/>
        </p:nvSpPr>
        <p:spPr>
          <a:xfrm>
            <a:off x="533400" y="4381500"/>
            <a:ext cx="192405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zh-CN" altLang="en-US" sz="1500" dirty="0">
                <a:solidFill>
                  <a:srgbClr val="F7F3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把一个时代的好奇心，
</a:t>
            </a:r>
            <a:pPr algn="l" indent="0" marL="0">
              <a:lnSpc>
                <a:spcPts val="2400"/>
              </a:lnSpc>
              <a:buNone/>
            </a:pPr>
            <a:r>
              <a:rPr lang="zh-CN" altLang="en-US" sz="1500" dirty="0">
                <a:solidFill>
                  <a:srgbClr val="F7F3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放进小小的玩具里。</a:t>
            </a:r>
            <a:endParaRPr lang="zh-CN" sz="1500" dirty="0"/>
          </a:p>
        </p:txBody>
      </p:sp>
      <p:sp>
        <p:nvSpPr>
          <p:cNvPr id="8" name="p1-meta"/>
          <p:cNvSpPr/>
          <p:nvPr/>
        </p:nvSpPr>
        <p:spPr>
          <a:xfrm>
            <a:off x="533400" y="5181600"/>
            <a:ext cx="1547366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zh-CN" altLang="en-US" sz="975" b="1" spc="225" kern="0" dirty="0">
                <a:solidFill>
                  <a:srgbClr val="F7F3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古代世界 · 20 世纪末</a:t>
            </a:r>
            <a:endParaRPr lang="zh-CN" sz="975" dirty="0"/>
          </a:p>
        </p:txBody>
      </p:sp>
      <p:pic>
        <p:nvPicPr>
          <p:cNvPr id="9" name="p1-hero" descr="p1-hero">    </p:cNvPr>
          <p:cNvPicPr>
            <a:picLocks noChangeAspect="1"/>
          </p:cNvPicPr>
          <p:nvPr/>
        </p:nvPicPr>
        <p:blipFill>
          <a:blip r:embed="rId1"/>
          <a:srcRect l="0" r="0" t="31388" b="31388"/>
          <a:stretch/>
        </p:blipFill>
        <p:spPr>
          <a:xfrm>
            <a:off x="4448175" y="1009650"/>
            <a:ext cx="7181850" cy="4010025"/>
          </a:xfrm>
          <a:prstGeom prst="rect">
            <a:avLst/>
          </a:prstGeom>
        </p:spPr>
      </p:pic>
      <p:sp>
        <p:nvSpPr>
          <p:cNvPr id="10" name="p1-caption"/>
          <p:cNvSpPr/>
          <p:nvPr/>
        </p:nvSpPr>
        <p:spPr>
          <a:xfrm>
            <a:off x="4724400" y="5486400"/>
            <a:ext cx="72009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900" spc="30" kern="0" dirty="0">
                <a:solidFill>
                  <a:srgbClr val="F7F3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童年的物件，也是时代的切片。图为 AI 示意。</a:t>
            </a:r>
            <a:endParaRPr lang="zh-CN" sz="900" dirty="0"/>
          </a:p>
        </p:txBody>
      </p:sp>
      <p:sp>
        <p:nvSpPr>
          <p:cNvPr id="11" name="foot-border"/>
          <p:cNvSpPr/>
          <p:nvPr/>
        </p:nvSpPr>
        <p:spPr>
          <a:xfrm>
            <a:off x="533400" y="6219825"/>
            <a:ext cx="11125200" cy="0"/>
          </a:xfrm>
          <a:prstGeom prst="line">
            <a:avLst/>
          </a:prstGeom>
          <a:noFill/>
          <a:ln w="9525">
            <a:solidFill>
              <a:srgbClr val="F7F3E9">
                <a:alpha val="35000"/>
              </a:srgbClr>
            </a:solidFill>
            <a:prstDash val="solid"/>
          </a:ln>
        </p:spPr>
      </p:sp>
      <p:sp>
        <p:nvSpPr>
          <p:cNvPr id="12" name="p1-footer"/>
          <p:cNvSpPr/>
          <p:nvPr/>
        </p:nvSpPr>
        <p:spPr>
          <a:xfrm>
            <a:off x="533400" y="6381750"/>
            <a:ext cx="113779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00" spc="75" kern="0" dirty="0">
                <a:solidFill>
                  <a:srgbClr val="F7F3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玩具简史 / 玩具简史</a:t>
            </a:r>
            <a:endParaRPr lang="zh-CN" sz="900" dirty="0"/>
          </a:p>
        </p:txBody>
      </p:sp>
      <p:sp>
        <p:nvSpPr>
          <p:cNvPr id="13" name="p1-number"/>
          <p:cNvSpPr/>
          <p:nvPr/>
        </p:nvSpPr>
        <p:spPr>
          <a:xfrm>
            <a:off x="11227296" y="6381750"/>
            <a:ext cx="45035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00" spc="75" kern="0" dirty="0">
                <a:solidFill>
                  <a:srgbClr val="F7F3E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 / 08</a:t>
            </a:r>
            <a:endParaRPr lang="zh-CN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-border"/>
          <p:cNvSpPr/>
          <p:nvPr/>
        </p:nvSpPr>
        <p:spPr>
          <a:xfrm>
            <a:off x="533400" y="781050"/>
            <a:ext cx="11125200" cy="0"/>
          </a:xfrm>
          <a:prstGeom prst="line">
            <a:avLst/>
          </a:prstGeom>
          <a:noFill/>
          <a:ln w="9525">
            <a:solidFill>
              <a:srgbClr val="262820">
                <a:alpha val="21000"/>
              </a:srgbClr>
            </a:solidFill>
            <a:prstDash val="solid"/>
          </a:ln>
        </p:spPr>
      </p:sp>
      <p:sp>
        <p:nvSpPr>
          <p:cNvPr id="3" name="p2-series"/>
          <p:cNvSpPr/>
          <p:nvPr/>
        </p:nvSpPr>
        <p:spPr>
          <a:xfrm>
            <a:off x="533400" y="419100"/>
            <a:ext cx="169619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75" b="1" spc="225" kern="0" dirty="0">
                <a:solidFill>
                  <a:srgbClr val="262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PLAY ARCHIVE</a:t>
            </a:r>
            <a:endParaRPr lang="zh-CN" sz="975" dirty="0"/>
          </a:p>
        </p:txBody>
      </p:sp>
      <p:sp>
        <p:nvSpPr>
          <p:cNvPr id="4" name="p2-chapter"/>
          <p:cNvSpPr/>
          <p:nvPr/>
        </p:nvSpPr>
        <p:spPr>
          <a:xfrm>
            <a:off x="10691813" y="419100"/>
            <a:ext cx="9858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75" spc="113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日常生活的缩影</a:t>
            </a:r>
            <a:endParaRPr lang="zh-CN" sz="975" dirty="0"/>
          </a:p>
        </p:txBody>
      </p:sp>
      <p:sp>
        <p:nvSpPr>
          <p:cNvPr id="5" name="p2-kicker"/>
          <p:cNvSpPr/>
          <p:nvPr/>
        </p:nvSpPr>
        <p:spPr>
          <a:xfrm>
            <a:off x="533400" y="1847999"/>
            <a:ext cx="5321647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zh-CN" altLang="en-US" sz="975" b="1" spc="225" kern="0" dirty="0">
                <a:solidFill>
                  <a:srgbClr val="B646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很早以前</a:t>
            </a:r>
            <a:endParaRPr lang="zh-CN" sz="975" dirty="0"/>
          </a:p>
        </p:txBody>
      </p:sp>
      <p:sp>
        <p:nvSpPr>
          <p:cNvPr id="6" name="p2-title"/>
          <p:cNvSpPr/>
          <p:nvPr/>
        </p:nvSpPr>
        <p:spPr>
          <a:xfrm>
            <a:off x="533400" y="2290911"/>
            <a:ext cx="5321647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zh-CN" altLang="en-US" sz="4125" b="1" spc="-150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一匹小木马，
</a:t>
            </a:r>
            <a:pPr algn="l" indent="0" marL="0">
              <a:lnSpc>
                <a:spcPts val="4785"/>
              </a:lnSpc>
              <a:buNone/>
            </a:pPr>
            <a:r>
              <a:rPr lang="zh-CN" altLang="en-US" sz="4125" b="1" spc="-150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已经会出发</a:t>
            </a:r>
            <a:endParaRPr lang="zh-CN" sz="4125" dirty="0"/>
          </a:p>
        </p:txBody>
      </p:sp>
      <p:sp>
        <p:nvSpPr>
          <p:cNvPr id="7" name="p2-intro"/>
          <p:cNvSpPr/>
          <p:nvPr/>
        </p:nvSpPr>
        <p:spPr>
          <a:xfrm>
            <a:off x="533400" y="4053036"/>
            <a:ext cx="5321647" cy="678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zh-CN" altLang="en-US" sz="1575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给熟悉的动物装上轮子，
</a:t>
            </a:r>
            <a:pPr algn="l" indent="0" marL="0">
              <a:lnSpc>
                <a:spcPts val="2599"/>
              </a:lnSpc>
              <a:buNone/>
            </a:pPr>
            <a:r>
              <a:rPr lang="zh-CN" altLang="en-US" sz="1575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一件日常物品就变成了游戏。</a:t>
            </a:r>
            <a:endParaRPr lang="zh-CN" sz="1575" dirty="0"/>
          </a:p>
        </p:txBody>
      </p:sp>
      <p:sp>
        <p:nvSpPr>
          <p:cNvPr id="8" name="p2-thought"/>
          <p:cNvSpPr/>
          <p:nvPr/>
        </p:nvSpPr>
        <p:spPr>
          <a:xfrm>
            <a:off x="533400" y="4970115"/>
            <a:ext cx="5321647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zh-CN" altLang="en-US" sz="900" dirty="0">
                <a:solidFill>
                  <a:srgbClr val="636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这类玩具把真实生活缩小，让孩子用动作和想象编故事。</a:t>
            </a:r>
            <a:endParaRPr lang="zh-CN" sz="900" dirty="0"/>
          </a:p>
        </p:txBody>
      </p:sp>
      <p:sp>
        <p:nvSpPr>
          <p:cNvPr id="9" name="p2-artifact-border"/>
          <p:cNvSpPr/>
          <p:nvPr/>
        </p:nvSpPr>
        <p:spPr>
          <a:xfrm>
            <a:off x="6559897" y="1382316"/>
            <a:ext cx="0" cy="4236244"/>
          </a:xfrm>
          <a:prstGeom prst="line">
            <a:avLst/>
          </a:prstGeom>
          <a:noFill/>
          <a:ln w="9525">
            <a:solidFill>
              <a:srgbClr val="262820">
                <a:alpha val="21000"/>
              </a:srgbClr>
            </a:solidFill>
            <a:prstDash val="solid"/>
          </a:ln>
        </p:spPr>
      </p:sp>
      <p:sp>
        <p:nvSpPr>
          <p:cNvPr id="10" name="p2-period"/>
          <p:cNvSpPr/>
          <p:nvPr/>
        </p:nvSpPr>
        <p:spPr>
          <a:xfrm>
            <a:off x="7026622" y="1382316"/>
            <a:ext cx="4651028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zh-CN" altLang="en-US" sz="975" b="1" spc="225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罗马时期的埃及</a:t>
            </a:r>
            <a:endParaRPr lang="zh-CN" sz="975" dirty="0"/>
          </a:p>
        </p:txBody>
      </p:sp>
      <p:sp>
        <p:nvSpPr>
          <p:cNvPr id="11" name="p2-date"/>
          <p:cNvSpPr/>
          <p:nvPr/>
        </p:nvSpPr>
        <p:spPr>
          <a:xfrm>
            <a:off x="7026622" y="1834753"/>
            <a:ext cx="4651028" cy="11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5"/>
              </a:lnSpc>
              <a:buNone/>
            </a:pPr>
            <a:r>
              <a:rPr lang="zh-CN" altLang="en-US" sz="4050" spc="-225" kern="0" dirty="0">
                <a:solidFill>
                  <a:srgbClr val="26282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 BCE
</a:t>
            </a:r>
            <a:pPr algn="l" indent="0" marL="0">
              <a:lnSpc>
                <a:spcPts val="4455"/>
              </a:lnSpc>
              <a:buNone/>
            </a:pPr>
            <a:r>
              <a:rPr lang="zh-CN" altLang="en-US" sz="4050" spc="-225" kern="0" dirty="0">
                <a:solidFill>
                  <a:srgbClr val="26282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– 395 CE</a:t>
            </a:r>
            <a:endParaRPr lang="zh-CN" sz="4050" dirty="0"/>
          </a:p>
        </p:txBody>
      </p:sp>
      <p:sp>
        <p:nvSpPr>
          <p:cNvPr id="12" name="p2-object"/>
          <p:cNvSpPr/>
          <p:nvPr/>
        </p:nvSpPr>
        <p:spPr>
          <a:xfrm>
            <a:off x="7026622" y="3232845"/>
            <a:ext cx="465102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zh-CN" altLang="en-US" sz="1875" b="1" spc="-37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带轮木制玩具马</a:t>
            </a:r>
            <a:endParaRPr lang="zh-CN" sz="1875" dirty="0"/>
          </a:p>
        </p:txBody>
      </p:sp>
      <p:sp>
        <p:nvSpPr>
          <p:cNvPr id="13" name="p2-description"/>
          <p:cNvSpPr/>
          <p:nvPr/>
        </p:nvSpPr>
        <p:spPr>
          <a:xfrm>
            <a:off x="7026622" y="3832920"/>
            <a:ext cx="4651028" cy="678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zh-CN" altLang="en-US" sz="1575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布里斯托博物馆的藏品 H1794 有木制轮子，马嘴处
</a:t>
            </a:r>
            <a:pPr algn="l" indent="0" marL="0">
              <a:lnSpc>
                <a:spcPts val="2599"/>
              </a:lnSpc>
              <a:buNone/>
            </a:pPr>
            <a:r>
              <a:rPr lang="zh-CN" altLang="en-US" sz="1575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留有穿绳孔，可以牵引。</a:t>
            </a:r>
            <a:endParaRPr lang="zh-CN" sz="1575" dirty="0"/>
          </a:p>
        </p:txBody>
      </p:sp>
      <p:sp>
        <p:nvSpPr>
          <p:cNvPr id="14" name="material-border"/>
          <p:cNvSpPr/>
          <p:nvPr/>
        </p:nvSpPr>
        <p:spPr>
          <a:xfrm>
            <a:off x="7026622" y="4759523"/>
            <a:ext cx="4631978" cy="0"/>
          </a:xfrm>
          <a:prstGeom prst="line">
            <a:avLst/>
          </a:prstGeom>
          <a:noFill/>
          <a:ln w="9525">
            <a:solidFill>
              <a:srgbClr val="262820">
                <a:alpha val="21000"/>
              </a:srgbClr>
            </a:solidFill>
            <a:prstDash val="solid"/>
          </a:ln>
        </p:spPr>
      </p:sp>
      <p:sp>
        <p:nvSpPr>
          <p:cNvPr id="15" name="p2-material"/>
          <p:cNvSpPr/>
          <p:nvPr/>
        </p:nvSpPr>
        <p:spPr>
          <a:xfrm>
            <a:off x="7026622" y="4940498"/>
            <a:ext cx="3429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zh-CN" altLang="en-US" sz="1275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木头</a:t>
            </a:r>
            <a:endParaRPr lang="zh-CN" sz="1275" dirty="0"/>
          </a:p>
        </p:txBody>
      </p:sp>
      <p:sp>
        <p:nvSpPr>
          <p:cNvPr id="16" name="p2-wheel"/>
          <p:cNvSpPr/>
          <p:nvPr/>
        </p:nvSpPr>
        <p:spPr>
          <a:xfrm>
            <a:off x="7579072" y="4940498"/>
            <a:ext cx="3429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zh-CN" altLang="en-US" sz="1275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轮子</a:t>
            </a:r>
            <a:endParaRPr lang="zh-CN" sz="1275" dirty="0"/>
          </a:p>
        </p:txBody>
      </p:sp>
      <p:sp>
        <p:nvSpPr>
          <p:cNvPr id="17" name="p2-string"/>
          <p:cNvSpPr/>
          <p:nvPr/>
        </p:nvSpPr>
        <p:spPr>
          <a:xfrm>
            <a:off x="8131522" y="4940498"/>
            <a:ext cx="6667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zh-CN" altLang="en-US" sz="1275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一根绳子</a:t>
            </a:r>
            <a:endParaRPr lang="zh-CN" sz="1275" dirty="0"/>
          </a:p>
        </p:txBody>
      </p:sp>
      <p:sp>
        <p:nvSpPr>
          <p:cNvPr id="18" name="p2-source"/>
          <p:cNvSpPr/>
          <p:nvPr/>
        </p:nvSpPr>
        <p:spPr>
          <a:xfrm>
            <a:off x="7026622" y="5435798"/>
            <a:ext cx="4651028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zh-CN" altLang="en-US" sz="900" dirty="0">
                <a:solidFill>
                  <a:srgbClr val="636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年代为馆藏标注范围，并非玩具的起源日期。[1]</a:t>
            </a:r>
            <a:endParaRPr lang="zh-CN" sz="900" dirty="0"/>
          </a:p>
        </p:txBody>
      </p:sp>
      <p:sp>
        <p:nvSpPr>
          <p:cNvPr id="19" name="foot-border"/>
          <p:cNvSpPr/>
          <p:nvPr/>
        </p:nvSpPr>
        <p:spPr>
          <a:xfrm>
            <a:off x="533400" y="6219825"/>
            <a:ext cx="11125200" cy="0"/>
          </a:xfrm>
          <a:prstGeom prst="line">
            <a:avLst/>
          </a:prstGeom>
          <a:noFill/>
          <a:ln w="9525">
            <a:solidFill>
              <a:srgbClr val="262820">
                <a:alpha val="21000"/>
              </a:srgbClr>
            </a:solidFill>
            <a:prstDash val="solid"/>
          </a:ln>
        </p:spPr>
      </p:sp>
      <p:sp>
        <p:nvSpPr>
          <p:cNvPr id="20" name="p2-footer"/>
          <p:cNvSpPr/>
          <p:nvPr/>
        </p:nvSpPr>
        <p:spPr>
          <a:xfrm>
            <a:off x="533400" y="6381750"/>
            <a:ext cx="150926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00" spc="75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玩具简史 / 古代的带轮木马</a:t>
            </a:r>
            <a:endParaRPr lang="zh-CN" sz="900" dirty="0"/>
          </a:p>
        </p:txBody>
      </p:sp>
      <p:sp>
        <p:nvSpPr>
          <p:cNvPr id="21" name="p2-number"/>
          <p:cNvSpPr/>
          <p:nvPr/>
        </p:nvSpPr>
        <p:spPr>
          <a:xfrm>
            <a:off x="11227296" y="6381750"/>
            <a:ext cx="45035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00" spc="75" kern="0" dirty="0">
                <a:solidFill>
                  <a:srgbClr val="262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 / 08</a:t>
            </a:r>
            <a:endParaRPr lang="zh-CN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D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-border"/>
          <p:cNvSpPr/>
          <p:nvPr/>
        </p:nvSpPr>
        <p:spPr>
          <a:xfrm>
            <a:off x="533400" y="781050"/>
            <a:ext cx="11125200" cy="0"/>
          </a:xfrm>
          <a:prstGeom prst="line">
            <a:avLst/>
          </a:prstGeom>
          <a:noFill/>
          <a:ln w="9525">
            <a:solidFill>
              <a:srgbClr val="262820">
                <a:alpha val="21000"/>
              </a:srgbClr>
            </a:solidFill>
            <a:prstDash val="solid"/>
          </a:ln>
        </p:spPr>
      </p:sp>
      <p:sp>
        <p:nvSpPr>
          <p:cNvPr id="3" name="p3-series"/>
          <p:cNvSpPr/>
          <p:nvPr/>
        </p:nvSpPr>
        <p:spPr>
          <a:xfrm>
            <a:off x="533400" y="419100"/>
            <a:ext cx="169619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75" b="1" spc="225" kern="0" dirty="0">
                <a:solidFill>
                  <a:srgbClr val="262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PLAY ARCHIVE</a:t>
            </a:r>
            <a:endParaRPr lang="zh-CN" sz="975" dirty="0"/>
          </a:p>
        </p:txBody>
      </p:sp>
      <p:sp>
        <p:nvSpPr>
          <p:cNvPr id="4" name="p3-chapter"/>
          <p:cNvSpPr/>
          <p:nvPr/>
        </p:nvSpPr>
        <p:spPr>
          <a:xfrm>
            <a:off x="10691813" y="419100"/>
            <a:ext cx="9858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75" spc="113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可以拥抱的伙伴</a:t>
            </a:r>
            <a:endParaRPr lang="zh-CN" sz="975" dirty="0"/>
          </a:p>
        </p:txBody>
      </p:sp>
      <p:pic>
        <p:nvPicPr>
          <p:cNvPr id="5" name="p3-image" descr="p3-image">    </p:cNvPr>
          <p:cNvPicPr>
            <a:picLocks noChangeAspect="1"/>
          </p:cNvPicPr>
          <p:nvPr/>
        </p:nvPicPr>
        <p:blipFill>
          <a:blip r:embed="rId1"/>
          <a:srcRect l="6098" r="6098" t="0" b="0"/>
          <a:stretch/>
        </p:blipFill>
        <p:spPr>
          <a:xfrm>
            <a:off x="533400" y="1357313"/>
            <a:ext cx="5295900" cy="4019550"/>
          </a:xfrm>
          <a:prstGeom prst="rect">
            <a:avLst/>
          </a:prstGeom>
        </p:spPr>
      </p:pic>
      <p:sp>
        <p:nvSpPr>
          <p:cNvPr id="6" name="p3-caption"/>
          <p:cNvSpPr/>
          <p:nvPr/>
        </p:nvSpPr>
        <p:spPr>
          <a:xfrm>
            <a:off x="533400" y="5481638"/>
            <a:ext cx="5314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900" spc="30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柔软的触感，让玩具成为可以拥抱的伙伴。AI 示意。</a:t>
            </a:r>
            <a:endParaRPr lang="zh-CN" sz="900" dirty="0"/>
          </a:p>
        </p:txBody>
      </p:sp>
      <p:sp>
        <p:nvSpPr>
          <p:cNvPr id="7" name="p3-kicker"/>
          <p:cNvSpPr/>
          <p:nvPr/>
        </p:nvSpPr>
        <p:spPr>
          <a:xfrm>
            <a:off x="6362700" y="1191220"/>
            <a:ext cx="740122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zh-CN" altLang="en-US" sz="975" b="1" spc="225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陪伴</a:t>
            </a:r>
            <a:endParaRPr lang="zh-CN" sz="975" dirty="0"/>
          </a:p>
        </p:txBody>
      </p:sp>
      <p:sp>
        <p:nvSpPr>
          <p:cNvPr id="8" name="p3-year"/>
          <p:cNvSpPr/>
          <p:nvPr/>
        </p:nvSpPr>
        <p:spPr>
          <a:xfrm>
            <a:off x="6362700" y="1605558"/>
            <a:ext cx="1247924" cy="657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25"/>
              </a:lnSpc>
              <a:buNone/>
            </a:pPr>
            <a:r>
              <a:rPr lang="zh-CN" altLang="en-US" sz="5025" spc="-375" kern="0" dirty="0">
                <a:solidFill>
                  <a:srgbClr val="B646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1902</a:t>
            </a:r>
            <a:endParaRPr lang="zh-CN" sz="5025" dirty="0"/>
          </a:p>
        </p:txBody>
      </p:sp>
      <p:sp>
        <p:nvSpPr>
          <p:cNvPr id="9" name="p3-title"/>
          <p:cNvSpPr/>
          <p:nvPr/>
        </p:nvSpPr>
        <p:spPr>
          <a:xfrm>
            <a:off x="6362700" y="2472333"/>
            <a:ext cx="3352800" cy="116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24"/>
              </a:lnSpc>
              <a:buNone/>
            </a:pPr>
            <a:r>
              <a:rPr lang="zh-CN" altLang="en-US" sz="3900" b="1" spc="-150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一只熊，
</a:t>
            </a:r>
            <a:pPr algn="l" indent="0" marL="0">
              <a:lnSpc>
                <a:spcPts val="4524"/>
              </a:lnSpc>
              <a:buNone/>
            </a:pPr>
            <a:r>
              <a:rPr lang="zh-CN" altLang="en-US" sz="3900" b="1" spc="-150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有了自己的名字</a:t>
            </a:r>
            <a:endParaRPr lang="zh-CN" sz="3900" dirty="0"/>
          </a:p>
        </p:txBody>
      </p:sp>
      <p:sp>
        <p:nvSpPr>
          <p:cNvPr id="10" name="p3-body"/>
          <p:cNvSpPr/>
          <p:nvPr/>
        </p:nvSpPr>
        <p:spPr>
          <a:xfrm>
            <a:off x="6362700" y="3849886"/>
            <a:ext cx="5314950" cy="678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zh-CN" altLang="en-US" sz="1575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罗斯福的一次狩猎故事经漫画传播，启发了以“Teddy”命名
</a:t>
            </a:r>
            <a:pPr algn="l" indent="0" marL="0">
              <a:lnSpc>
                <a:spcPts val="2599"/>
              </a:lnSpc>
              <a:buNone/>
            </a:pPr>
            <a:r>
              <a:rPr lang="zh-CN" altLang="en-US" sz="1575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的玩具熊。</a:t>
            </a:r>
            <a:endParaRPr lang="zh-CN" sz="1575" dirty="0"/>
          </a:p>
        </p:txBody>
      </p:sp>
      <p:sp>
        <p:nvSpPr>
          <p:cNvPr id="11" name="p3-takeaway"/>
          <p:cNvSpPr/>
          <p:nvPr/>
        </p:nvSpPr>
        <p:spPr>
          <a:xfrm>
            <a:off x="6362700" y="4738390"/>
            <a:ext cx="5314950" cy="678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zh-CN" altLang="en-US" sz="1575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孩子给它名字、和它说话，也带着它入睡。玩具承载了陪伴
</a:t>
            </a:r>
            <a:pPr algn="l" indent="0" marL="0">
              <a:lnSpc>
                <a:spcPts val="2599"/>
              </a:lnSpc>
              <a:buNone/>
            </a:pPr>
            <a:r>
              <a:rPr lang="zh-CN" altLang="en-US" sz="1575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的意义。</a:t>
            </a:r>
            <a:endParaRPr lang="zh-CN" sz="1575" dirty="0"/>
          </a:p>
        </p:txBody>
      </p:sp>
      <p:sp>
        <p:nvSpPr>
          <p:cNvPr id="12" name="p3-source"/>
          <p:cNvSpPr/>
          <p:nvPr/>
        </p:nvSpPr>
        <p:spPr>
          <a:xfrm>
            <a:off x="6362700" y="5626894"/>
            <a:ext cx="3076575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zh-CN" altLang="en-US" sz="900" dirty="0">
                <a:solidFill>
                  <a:srgbClr val="636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1902 年是命名故事的重要节点，并非所有玩具熊的起点。[2]</a:t>
            </a:r>
            <a:endParaRPr lang="zh-CN" sz="900" dirty="0"/>
          </a:p>
        </p:txBody>
      </p:sp>
      <p:sp>
        <p:nvSpPr>
          <p:cNvPr id="13" name="foot-border"/>
          <p:cNvSpPr/>
          <p:nvPr/>
        </p:nvSpPr>
        <p:spPr>
          <a:xfrm>
            <a:off x="533400" y="6219825"/>
            <a:ext cx="11125200" cy="0"/>
          </a:xfrm>
          <a:prstGeom prst="line">
            <a:avLst/>
          </a:prstGeom>
          <a:noFill/>
          <a:ln w="9525">
            <a:solidFill>
              <a:srgbClr val="262820">
                <a:alpha val="21000"/>
              </a:srgbClr>
            </a:solidFill>
            <a:prstDash val="solid"/>
          </a:ln>
        </p:spPr>
      </p:sp>
      <p:sp>
        <p:nvSpPr>
          <p:cNvPr id="14" name="p3-footer"/>
          <p:cNvSpPr/>
          <p:nvPr/>
        </p:nvSpPr>
        <p:spPr>
          <a:xfrm>
            <a:off x="533400" y="6381750"/>
            <a:ext cx="138544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00" spc="75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玩具简史 / 泰迪熊与陪伴</a:t>
            </a:r>
            <a:endParaRPr lang="zh-CN" sz="900" dirty="0"/>
          </a:p>
        </p:txBody>
      </p:sp>
      <p:sp>
        <p:nvSpPr>
          <p:cNvPr id="15" name="p3-number"/>
          <p:cNvSpPr/>
          <p:nvPr/>
        </p:nvSpPr>
        <p:spPr>
          <a:xfrm>
            <a:off x="11227296" y="6381750"/>
            <a:ext cx="45035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00" spc="75" kern="0" dirty="0">
                <a:solidFill>
                  <a:srgbClr val="262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 / 08</a:t>
            </a:r>
            <a:endParaRPr lang="zh-CN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-border"/>
          <p:cNvSpPr/>
          <p:nvPr/>
        </p:nvSpPr>
        <p:spPr>
          <a:xfrm>
            <a:off x="533400" y="781050"/>
            <a:ext cx="11125200" cy="0"/>
          </a:xfrm>
          <a:prstGeom prst="line">
            <a:avLst/>
          </a:prstGeom>
          <a:noFill/>
          <a:ln w="9525">
            <a:solidFill>
              <a:srgbClr val="262820">
                <a:alpha val="21000"/>
              </a:srgbClr>
            </a:solidFill>
            <a:prstDash val="solid"/>
          </a:ln>
        </p:spPr>
      </p:sp>
      <p:sp>
        <p:nvSpPr>
          <p:cNvPr id="3" name="p4-series"/>
          <p:cNvSpPr/>
          <p:nvPr/>
        </p:nvSpPr>
        <p:spPr>
          <a:xfrm>
            <a:off x="533400" y="419100"/>
            <a:ext cx="169619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75" b="1" spc="225" kern="0" dirty="0">
                <a:solidFill>
                  <a:srgbClr val="262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PLAY ARCHIVE</a:t>
            </a:r>
            <a:endParaRPr lang="zh-CN" sz="975" dirty="0"/>
          </a:p>
        </p:txBody>
      </p:sp>
      <p:sp>
        <p:nvSpPr>
          <p:cNvPr id="4" name="p4-chapter"/>
          <p:cNvSpPr/>
          <p:nvPr/>
        </p:nvSpPr>
        <p:spPr>
          <a:xfrm>
            <a:off x="10691813" y="419100"/>
            <a:ext cx="9858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75" spc="113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把答案留给想象</a:t>
            </a:r>
            <a:endParaRPr lang="zh-CN" sz="975" dirty="0"/>
          </a:p>
        </p:txBody>
      </p:sp>
      <p:sp>
        <p:nvSpPr>
          <p:cNvPr id="5" name="p4-kicker"/>
          <p:cNvSpPr/>
          <p:nvPr/>
        </p:nvSpPr>
        <p:spPr>
          <a:xfrm>
            <a:off x="533400" y="1191220"/>
            <a:ext cx="740122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zh-CN" altLang="en-US" sz="975" b="1" spc="225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创造</a:t>
            </a:r>
            <a:endParaRPr lang="zh-CN" sz="975" dirty="0"/>
          </a:p>
        </p:txBody>
      </p:sp>
      <p:sp>
        <p:nvSpPr>
          <p:cNvPr id="6" name="p4-year"/>
          <p:cNvSpPr/>
          <p:nvPr/>
        </p:nvSpPr>
        <p:spPr>
          <a:xfrm>
            <a:off x="533400" y="1605558"/>
            <a:ext cx="1247924" cy="657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25"/>
              </a:lnSpc>
              <a:buNone/>
            </a:pPr>
            <a:r>
              <a:rPr lang="zh-CN" altLang="en-US" sz="5025" spc="-375" kern="0" dirty="0">
                <a:solidFill>
                  <a:srgbClr val="B646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1958</a:t>
            </a:r>
            <a:endParaRPr lang="zh-CN" sz="5025" dirty="0"/>
          </a:p>
        </p:txBody>
      </p:sp>
      <p:sp>
        <p:nvSpPr>
          <p:cNvPr id="7" name="p4-title"/>
          <p:cNvSpPr/>
          <p:nvPr/>
        </p:nvSpPr>
        <p:spPr>
          <a:xfrm>
            <a:off x="533400" y="2472333"/>
            <a:ext cx="2876550" cy="116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24"/>
              </a:lnSpc>
              <a:buNone/>
            </a:pPr>
            <a:r>
              <a:rPr lang="zh-CN" altLang="en-US" sz="3900" b="1" spc="-150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小小积木，
</a:t>
            </a:r>
            <a:pPr algn="l" indent="0" marL="0">
              <a:lnSpc>
                <a:spcPts val="4524"/>
              </a:lnSpc>
              <a:buNone/>
            </a:pPr>
            <a:r>
              <a:rPr lang="zh-CN" altLang="en-US" sz="3900" b="1" spc="-150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可以一再重来</a:t>
            </a:r>
            <a:endParaRPr lang="zh-CN" sz="3900" dirty="0"/>
          </a:p>
        </p:txBody>
      </p:sp>
      <p:sp>
        <p:nvSpPr>
          <p:cNvPr id="8" name="p4-body"/>
          <p:cNvSpPr/>
          <p:nvPr/>
        </p:nvSpPr>
        <p:spPr>
          <a:xfrm>
            <a:off x="533400" y="3849886"/>
            <a:ext cx="5314950" cy="678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zh-CN" altLang="en-US" sz="1575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乐高在这一年提交积木连接结构的专利申请，凸点与底部管
</a:t>
            </a:r>
            <a:pPr algn="l" indent="0" marL="0">
              <a:lnSpc>
                <a:spcPts val="2599"/>
              </a:lnSpc>
              <a:buNone/>
            </a:pPr>
            <a:r>
              <a:rPr lang="zh-CN" altLang="en-US" sz="1575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柱让拼接更稳固。</a:t>
            </a:r>
            <a:endParaRPr lang="zh-CN" sz="1575" dirty="0"/>
          </a:p>
        </p:txBody>
      </p:sp>
      <p:sp>
        <p:nvSpPr>
          <p:cNvPr id="9" name="p4-takeaway"/>
          <p:cNvSpPr/>
          <p:nvPr/>
        </p:nvSpPr>
        <p:spPr>
          <a:xfrm>
            <a:off x="533400" y="4738390"/>
            <a:ext cx="5314950" cy="678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zh-CN" altLang="en-US" sz="1575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同一批零件，可以搭房子，也可以拆开重建。玩法随着想象
</a:t>
            </a:r>
            <a:pPr algn="l" indent="0" marL="0">
              <a:lnSpc>
                <a:spcPts val="2599"/>
              </a:lnSpc>
              <a:buNone/>
            </a:pPr>
            <a:r>
              <a:rPr lang="zh-CN" altLang="en-US" sz="1575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继续生长。</a:t>
            </a:r>
            <a:endParaRPr lang="zh-CN" sz="1575" dirty="0"/>
          </a:p>
        </p:txBody>
      </p:sp>
      <p:sp>
        <p:nvSpPr>
          <p:cNvPr id="10" name="p4-source"/>
          <p:cNvSpPr/>
          <p:nvPr/>
        </p:nvSpPr>
        <p:spPr>
          <a:xfrm>
            <a:off x="533400" y="5626894"/>
            <a:ext cx="3389858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zh-CN" altLang="en-US" sz="900" dirty="0">
                <a:solidFill>
                  <a:srgbClr val="636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专利申请日：1958 年 1 月 28 日。此前年代已有乐高塑料积木。[3]</a:t>
            </a:r>
            <a:endParaRPr lang="zh-CN" sz="900" dirty="0"/>
          </a:p>
        </p:txBody>
      </p:sp>
      <p:pic>
        <p:nvPicPr>
          <p:cNvPr id="11" name="p4-image" descr="p4-image">    </p:cNvPr>
          <p:cNvPicPr>
            <a:picLocks noChangeAspect="1"/>
          </p:cNvPicPr>
          <p:nvPr/>
        </p:nvPicPr>
        <p:blipFill>
          <a:blip r:embed="rId1"/>
          <a:srcRect l="6098" r="6098" t="0" b="0"/>
          <a:stretch/>
        </p:blipFill>
        <p:spPr>
          <a:xfrm>
            <a:off x="6362700" y="1357313"/>
            <a:ext cx="5295900" cy="4019550"/>
          </a:xfrm>
          <a:prstGeom prst="rect">
            <a:avLst/>
          </a:prstGeom>
        </p:spPr>
      </p:pic>
      <p:sp>
        <p:nvSpPr>
          <p:cNvPr id="12" name="p4-caption"/>
          <p:cNvSpPr/>
          <p:nvPr/>
        </p:nvSpPr>
        <p:spPr>
          <a:xfrm>
            <a:off x="6362700" y="5481638"/>
            <a:ext cx="5314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900" spc="30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连接结构提供规则，孩子决定最后的形状。AI 示意。</a:t>
            </a:r>
            <a:endParaRPr lang="zh-CN" sz="900" dirty="0"/>
          </a:p>
        </p:txBody>
      </p:sp>
      <p:sp>
        <p:nvSpPr>
          <p:cNvPr id="13" name="foot-border"/>
          <p:cNvSpPr/>
          <p:nvPr/>
        </p:nvSpPr>
        <p:spPr>
          <a:xfrm>
            <a:off x="533400" y="6219825"/>
            <a:ext cx="11125200" cy="0"/>
          </a:xfrm>
          <a:prstGeom prst="line">
            <a:avLst/>
          </a:prstGeom>
          <a:noFill/>
          <a:ln w="9525">
            <a:solidFill>
              <a:srgbClr val="262820">
                <a:alpha val="21000"/>
              </a:srgbClr>
            </a:solidFill>
            <a:prstDash val="solid"/>
          </a:ln>
        </p:spPr>
      </p:sp>
      <p:sp>
        <p:nvSpPr>
          <p:cNvPr id="14" name="p4-footer"/>
          <p:cNvSpPr/>
          <p:nvPr/>
        </p:nvSpPr>
        <p:spPr>
          <a:xfrm>
            <a:off x="533400" y="6381750"/>
            <a:ext cx="126161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00" spc="75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玩具简史 / 积木与创造</a:t>
            </a:r>
            <a:endParaRPr lang="zh-CN" sz="900" dirty="0"/>
          </a:p>
        </p:txBody>
      </p:sp>
      <p:sp>
        <p:nvSpPr>
          <p:cNvPr id="15" name="p4-number"/>
          <p:cNvSpPr/>
          <p:nvPr/>
        </p:nvSpPr>
        <p:spPr>
          <a:xfrm>
            <a:off x="11227296" y="6381750"/>
            <a:ext cx="45035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00" spc="75" kern="0" dirty="0">
                <a:solidFill>
                  <a:srgbClr val="262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 / 08</a:t>
            </a:r>
            <a:endParaRPr lang="zh-CN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9E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-border"/>
          <p:cNvSpPr/>
          <p:nvPr/>
        </p:nvSpPr>
        <p:spPr>
          <a:xfrm>
            <a:off x="533400" y="781050"/>
            <a:ext cx="11125200" cy="0"/>
          </a:xfrm>
          <a:prstGeom prst="line">
            <a:avLst/>
          </a:prstGeom>
          <a:noFill/>
          <a:ln w="9525">
            <a:solidFill>
              <a:srgbClr val="262820">
                <a:alpha val="21000"/>
              </a:srgbClr>
            </a:solidFill>
            <a:prstDash val="solid"/>
          </a:ln>
        </p:spPr>
      </p:sp>
      <p:sp>
        <p:nvSpPr>
          <p:cNvPr id="3" name="p5-series"/>
          <p:cNvSpPr/>
          <p:nvPr/>
        </p:nvSpPr>
        <p:spPr>
          <a:xfrm>
            <a:off x="533400" y="419100"/>
            <a:ext cx="169619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75" b="1" spc="225" kern="0" dirty="0">
                <a:solidFill>
                  <a:srgbClr val="262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PLAY ARCHIVE</a:t>
            </a:r>
            <a:endParaRPr lang="zh-CN" sz="975" dirty="0"/>
          </a:p>
        </p:txBody>
      </p:sp>
      <p:sp>
        <p:nvSpPr>
          <p:cNvPr id="4" name="p5-chapter"/>
          <p:cNvSpPr/>
          <p:nvPr/>
        </p:nvSpPr>
        <p:spPr>
          <a:xfrm>
            <a:off x="10553700" y="419100"/>
            <a:ext cx="11239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75" spc="113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会回应的游戏世界</a:t>
            </a:r>
            <a:endParaRPr lang="zh-CN" sz="975" dirty="0"/>
          </a:p>
        </p:txBody>
      </p:sp>
      <p:pic>
        <p:nvPicPr>
          <p:cNvPr id="5" name="p5-image" descr="p5-image">    </p:cNvPr>
          <p:cNvPicPr>
            <a:picLocks noChangeAspect="1"/>
          </p:cNvPicPr>
          <p:nvPr/>
        </p:nvPicPr>
        <p:blipFill>
          <a:blip r:embed="rId1"/>
          <a:srcRect l="6098" r="6098" t="0" b="0"/>
          <a:stretch/>
        </p:blipFill>
        <p:spPr>
          <a:xfrm>
            <a:off x="533400" y="1357313"/>
            <a:ext cx="5295900" cy="4019550"/>
          </a:xfrm>
          <a:prstGeom prst="rect">
            <a:avLst/>
          </a:prstGeom>
        </p:spPr>
      </p:pic>
      <p:sp>
        <p:nvSpPr>
          <p:cNvPr id="6" name="p5-caption"/>
          <p:cNvSpPr/>
          <p:nvPr/>
        </p:nvSpPr>
        <p:spPr>
          <a:xfrm>
            <a:off x="533400" y="5481638"/>
            <a:ext cx="5314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zh-CN" altLang="en-US" sz="900" spc="30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一块小屏幕，让反馈和陪伴随身而行。AI 示意。</a:t>
            </a:r>
            <a:endParaRPr lang="zh-CN" sz="900" dirty="0"/>
          </a:p>
        </p:txBody>
      </p:sp>
      <p:sp>
        <p:nvSpPr>
          <p:cNvPr id="7" name="p5-kicker"/>
          <p:cNvSpPr/>
          <p:nvPr/>
        </p:nvSpPr>
        <p:spPr>
          <a:xfrm>
            <a:off x="6362700" y="1361182"/>
            <a:ext cx="740122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zh-CN" altLang="en-US" sz="975" b="1" spc="225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/ 互动</a:t>
            </a:r>
            <a:endParaRPr lang="zh-CN" sz="975" dirty="0"/>
          </a:p>
        </p:txBody>
      </p:sp>
      <p:sp>
        <p:nvSpPr>
          <p:cNvPr id="8" name="p5-year1"/>
          <p:cNvSpPr/>
          <p:nvPr/>
        </p:nvSpPr>
        <p:spPr>
          <a:xfrm>
            <a:off x="6362700" y="1775520"/>
            <a:ext cx="1027509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75"/>
              </a:lnSpc>
              <a:buNone/>
            </a:pPr>
            <a:r>
              <a:rPr lang="zh-CN" altLang="en-US" sz="3975" spc="-225" kern="0" dirty="0">
                <a:solidFill>
                  <a:srgbClr val="B646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1989</a:t>
            </a:r>
            <a:endParaRPr lang="zh-CN" sz="3975" dirty="0"/>
          </a:p>
        </p:txBody>
      </p:sp>
      <p:sp>
        <p:nvSpPr>
          <p:cNvPr id="9" name="p5-year-divider"/>
          <p:cNvSpPr/>
          <p:nvPr/>
        </p:nvSpPr>
        <p:spPr>
          <a:xfrm>
            <a:off x="7542609" y="2042220"/>
            <a:ext cx="826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262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/</a:t>
            </a:r>
            <a:endParaRPr lang="zh-CN" sz="1350" dirty="0"/>
          </a:p>
        </p:txBody>
      </p:sp>
      <p:sp>
        <p:nvSpPr>
          <p:cNvPr id="10" name="p5-year2"/>
          <p:cNvSpPr/>
          <p:nvPr/>
        </p:nvSpPr>
        <p:spPr>
          <a:xfrm>
            <a:off x="7777609" y="1775520"/>
            <a:ext cx="1027509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75"/>
              </a:lnSpc>
              <a:buNone/>
            </a:pPr>
            <a:r>
              <a:rPr lang="zh-CN" altLang="en-US" sz="3975" spc="-225" kern="0" dirty="0">
                <a:solidFill>
                  <a:srgbClr val="B646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1996</a:t>
            </a:r>
            <a:endParaRPr lang="zh-CN" sz="3975" dirty="0"/>
          </a:p>
        </p:txBody>
      </p:sp>
      <p:sp>
        <p:nvSpPr>
          <p:cNvPr id="11" name="p5-title"/>
          <p:cNvSpPr/>
          <p:nvPr/>
        </p:nvSpPr>
        <p:spPr>
          <a:xfrm>
            <a:off x="6362700" y="2508945"/>
            <a:ext cx="2400300" cy="116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24"/>
              </a:lnSpc>
              <a:buNone/>
            </a:pPr>
            <a:r>
              <a:rPr lang="zh-CN" altLang="en-US" sz="3900" b="1" spc="-150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游戏世界，
</a:t>
            </a:r>
            <a:pPr algn="l" indent="0" marL="0">
              <a:lnSpc>
                <a:spcPts val="4524"/>
              </a:lnSpc>
              <a:buNone/>
            </a:pPr>
            <a:r>
              <a:rPr lang="zh-CN" altLang="en-US" sz="3900" b="1" spc="-150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装进了口袋</a:t>
            </a:r>
            <a:endParaRPr lang="zh-CN" sz="3900" dirty="0"/>
          </a:p>
        </p:txBody>
      </p:sp>
      <p:sp>
        <p:nvSpPr>
          <p:cNvPr id="12" name="p5-gameboy-title"/>
          <p:cNvSpPr/>
          <p:nvPr/>
        </p:nvSpPr>
        <p:spPr>
          <a:xfrm>
            <a:off x="6362700" y="3886498"/>
            <a:ext cx="5314950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b="1" spc="-37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Game Boy：随身游戏</a:t>
            </a:r>
            <a:endParaRPr lang="zh-CN" sz="1725" dirty="0"/>
          </a:p>
        </p:txBody>
      </p:sp>
      <p:sp>
        <p:nvSpPr>
          <p:cNvPr id="13" name="p5-gameboy-body"/>
          <p:cNvSpPr/>
          <p:nvPr/>
        </p:nvSpPr>
        <p:spPr>
          <a:xfrm>
            <a:off x="6362700" y="4250234"/>
            <a:ext cx="5314950" cy="550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zh-CN" altLang="en-US" sz="135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1989 年在日本推出。通过更换卡带，一台掌机可以带来不同的游戏。
</a:t>
            </a:r>
            <a:pPr algn="l" indent="0" marL="0">
              <a:lnSpc>
                <a:spcPts val="2092"/>
              </a:lnSpc>
              <a:buNone/>
            </a:pPr>
            <a:r>
              <a:rPr lang="zh-CN" altLang="en-US" sz="135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[4]</a:t>
            </a:r>
            <a:endParaRPr lang="zh-CN" sz="1350" dirty="0"/>
          </a:p>
        </p:txBody>
      </p:sp>
      <p:sp>
        <p:nvSpPr>
          <p:cNvPr id="14" name="p5-tamagotchi-title"/>
          <p:cNvSpPr/>
          <p:nvPr/>
        </p:nvSpPr>
        <p:spPr>
          <a:xfrm>
            <a:off x="6362700" y="5010150"/>
            <a:ext cx="5003155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b="1" spc="-37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拓麻歌子：照顾虚拟生命</a:t>
            </a:r>
            <a:endParaRPr lang="zh-CN" sz="1725" dirty="0"/>
          </a:p>
        </p:txBody>
      </p:sp>
      <p:sp>
        <p:nvSpPr>
          <p:cNvPr id="15" name="p5-tamagotchi-body"/>
          <p:cNvSpPr/>
          <p:nvPr/>
        </p:nvSpPr>
        <p:spPr>
          <a:xfrm>
            <a:off x="6362700" y="5373886"/>
            <a:ext cx="5003155" cy="284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zh-CN" altLang="en-US" sz="135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1996 年 11 月 23 日在日本上市，把喂食与照料变成日常互动。[5]</a:t>
            </a:r>
            <a:endParaRPr lang="zh-CN" sz="1350" dirty="0"/>
          </a:p>
        </p:txBody>
      </p:sp>
      <p:sp>
        <p:nvSpPr>
          <p:cNvPr id="16" name="foot-border"/>
          <p:cNvSpPr/>
          <p:nvPr/>
        </p:nvSpPr>
        <p:spPr>
          <a:xfrm>
            <a:off x="533400" y="6219825"/>
            <a:ext cx="11125200" cy="0"/>
          </a:xfrm>
          <a:prstGeom prst="line">
            <a:avLst/>
          </a:prstGeom>
          <a:noFill/>
          <a:ln w="9525">
            <a:solidFill>
              <a:srgbClr val="262820">
                <a:alpha val="21000"/>
              </a:srgbClr>
            </a:solidFill>
            <a:prstDash val="solid"/>
          </a:ln>
        </p:spPr>
      </p:sp>
      <p:sp>
        <p:nvSpPr>
          <p:cNvPr id="17" name="p5-footer"/>
          <p:cNvSpPr/>
          <p:nvPr/>
        </p:nvSpPr>
        <p:spPr>
          <a:xfrm>
            <a:off x="533400" y="6381750"/>
            <a:ext cx="163309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00" spc="75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玩具简史 / 口袋里的电子玩具</a:t>
            </a:r>
            <a:endParaRPr lang="zh-CN" sz="900" dirty="0"/>
          </a:p>
        </p:txBody>
      </p:sp>
      <p:sp>
        <p:nvSpPr>
          <p:cNvPr id="18" name="p5-number"/>
          <p:cNvSpPr/>
          <p:nvPr/>
        </p:nvSpPr>
        <p:spPr>
          <a:xfrm>
            <a:off x="11227296" y="6381750"/>
            <a:ext cx="45035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00" spc="75" kern="0" dirty="0">
                <a:solidFill>
                  <a:srgbClr val="262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 / 08</a:t>
            </a:r>
            <a:endParaRPr lang="zh-CN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-border"/>
          <p:cNvSpPr/>
          <p:nvPr/>
        </p:nvSpPr>
        <p:spPr>
          <a:xfrm>
            <a:off x="533400" y="781050"/>
            <a:ext cx="11125200" cy="0"/>
          </a:xfrm>
          <a:prstGeom prst="line">
            <a:avLst/>
          </a:prstGeom>
          <a:noFill/>
          <a:ln w="9525">
            <a:solidFill>
              <a:srgbClr val="262820">
                <a:alpha val="21000"/>
              </a:srgbClr>
            </a:solidFill>
            <a:prstDash val="solid"/>
          </a:ln>
        </p:spPr>
      </p:sp>
      <p:sp>
        <p:nvSpPr>
          <p:cNvPr id="3" name="p6-series"/>
          <p:cNvSpPr/>
          <p:nvPr/>
        </p:nvSpPr>
        <p:spPr>
          <a:xfrm>
            <a:off x="533400" y="419100"/>
            <a:ext cx="169619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75" b="1" spc="225" kern="0" dirty="0">
                <a:solidFill>
                  <a:srgbClr val="262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PLAY ARCHIVE</a:t>
            </a:r>
            <a:endParaRPr lang="zh-CN" sz="975" dirty="0"/>
          </a:p>
        </p:txBody>
      </p:sp>
      <p:sp>
        <p:nvSpPr>
          <p:cNvPr id="4" name="p6-chapter"/>
          <p:cNvSpPr/>
          <p:nvPr/>
        </p:nvSpPr>
        <p:spPr>
          <a:xfrm>
            <a:off x="10691813" y="419100"/>
            <a:ext cx="9858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75" spc="113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回看玩具的变化</a:t>
            </a:r>
            <a:endParaRPr lang="zh-CN" sz="975" dirty="0"/>
          </a:p>
        </p:txBody>
      </p:sp>
      <p:sp>
        <p:nvSpPr>
          <p:cNvPr id="5" name="p6-title"/>
          <p:cNvSpPr/>
          <p:nvPr/>
        </p:nvSpPr>
        <p:spPr>
          <a:xfrm>
            <a:off x="533400" y="1318320"/>
            <a:ext cx="3552825" cy="1234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zh-CN" altLang="en-US" sz="4125" b="1" spc="-150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玩法不断增加，
</a:t>
            </a:r>
            <a:pPr algn="l" indent="0" marL="0">
              <a:lnSpc>
                <a:spcPts val="4785"/>
              </a:lnSpc>
              <a:buNone/>
            </a:pPr>
            <a:r>
              <a:rPr lang="zh-CN" altLang="en-US" sz="4125" b="1" spc="-150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旧玩具仍有位置</a:t>
            </a:r>
            <a:endParaRPr lang="zh-CN" sz="4125" dirty="0"/>
          </a:p>
        </p:txBody>
      </p:sp>
      <p:sp>
        <p:nvSpPr>
          <p:cNvPr id="6" name="p6-intro"/>
          <p:cNvSpPr/>
          <p:nvPr/>
        </p:nvSpPr>
        <p:spPr>
          <a:xfrm>
            <a:off x="9429750" y="1685330"/>
            <a:ext cx="2247900" cy="867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zh-CN" altLang="en-US" sz="1350" dirty="0">
                <a:solidFill>
                  <a:srgbClr val="636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材料和技术带来了新的体验。
</a:t>
            </a:r>
            <a:pPr algn="l" indent="0" marL="0">
              <a:lnSpc>
                <a:spcPts val="2228"/>
              </a:lnSpc>
              <a:buNone/>
            </a:pPr>
            <a:r>
              <a:rPr lang="zh-CN" altLang="en-US" sz="1350" dirty="0">
                <a:solidFill>
                  <a:srgbClr val="636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木马、毛绒玩具与积木，
</a:t>
            </a:r>
            <a:pPr algn="l" indent="0" marL="0">
              <a:lnSpc>
                <a:spcPts val="2228"/>
              </a:lnSpc>
              <a:buNone/>
            </a:pPr>
            <a:r>
              <a:rPr lang="zh-CN" altLang="en-US" sz="1350" dirty="0">
                <a:solidFill>
                  <a:srgbClr val="636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也继续出现在今天的童年里。</a:t>
            </a:r>
            <a:endParaRPr lang="zh-CN" sz="1350" dirty="0"/>
          </a:p>
        </p:txBody>
      </p:sp>
      <p:sp>
        <p:nvSpPr>
          <p:cNvPr id="7" name="rail-border"/>
          <p:cNvSpPr/>
          <p:nvPr/>
        </p:nvSpPr>
        <p:spPr>
          <a:xfrm>
            <a:off x="533400" y="2914650"/>
            <a:ext cx="11125200" cy="0"/>
          </a:xfrm>
          <a:prstGeom prst="line">
            <a:avLst/>
          </a:prstGeom>
          <a:noFill/>
          <a:ln w="28575">
            <a:solidFill>
              <a:srgbClr val="262820"/>
            </a:solidFill>
            <a:prstDash val="solid"/>
          </a:ln>
        </p:spPr>
      </p:sp>
      <p:sp>
        <p:nvSpPr>
          <p:cNvPr id="8" name="p6-roman-date"/>
          <p:cNvSpPr/>
          <p:nvPr/>
        </p:nvSpPr>
        <p:spPr>
          <a:xfrm>
            <a:off x="533400" y="3162300"/>
            <a:ext cx="2299097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zh-CN" altLang="en-US" sz="3000" spc="-150" kern="0" dirty="0">
                <a:solidFill>
                  <a:srgbClr val="26282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古代</a:t>
            </a:r>
            <a:endParaRPr lang="zh-CN" sz="3000" dirty="0"/>
          </a:p>
        </p:txBody>
      </p:sp>
      <p:sp>
        <p:nvSpPr>
          <p:cNvPr id="9" name="p6-roman-type"/>
          <p:cNvSpPr/>
          <p:nvPr/>
        </p:nvSpPr>
        <p:spPr>
          <a:xfrm>
            <a:off x="533400" y="3762375"/>
            <a:ext cx="2299097" cy="217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zh-CN" altLang="en-US" sz="975" spc="150" kern="0" dirty="0">
                <a:solidFill>
                  <a:srgbClr val="B646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模仿</a:t>
            </a:r>
            <a:endParaRPr lang="zh-CN" sz="975" dirty="0"/>
          </a:p>
        </p:txBody>
      </p:sp>
      <p:sp>
        <p:nvSpPr>
          <p:cNvPr id="10" name="p6-roman-title"/>
          <p:cNvSpPr/>
          <p:nvPr/>
        </p:nvSpPr>
        <p:spPr>
          <a:xfrm>
            <a:off x="533400" y="4103340"/>
            <a:ext cx="2299097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b="1" spc="-37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带轮木马</a:t>
            </a:r>
            <a:endParaRPr lang="zh-CN" sz="1725" dirty="0"/>
          </a:p>
        </p:txBody>
      </p:sp>
      <p:sp>
        <p:nvSpPr>
          <p:cNvPr id="11" name="p6-roman-body"/>
          <p:cNvSpPr/>
          <p:nvPr/>
        </p:nvSpPr>
        <p:spPr>
          <a:xfrm>
            <a:off x="533400" y="4552801"/>
            <a:ext cx="2299097" cy="567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35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把身边的动物，
</a:t>
            </a:r>
            <a:pPr algn="l" indent="0" marL="0">
              <a:lnSpc>
                <a:spcPts val="2160"/>
              </a:lnSpc>
              <a:buNone/>
            </a:pPr>
            <a:r>
              <a:rPr lang="zh-CN" altLang="en-US" sz="135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变成可牵引的故事。</a:t>
            </a:r>
            <a:endParaRPr lang="zh-CN" sz="1350" dirty="0"/>
          </a:p>
        </p:txBody>
      </p:sp>
      <p:sp>
        <p:nvSpPr>
          <p:cNvPr id="12" name="p6-bear-date"/>
          <p:cNvSpPr/>
          <p:nvPr/>
        </p:nvSpPr>
        <p:spPr>
          <a:xfrm>
            <a:off x="3042047" y="3162300"/>
            <a:ext cx="2001738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zh-CN" altLang="en-US" sz="3000" spc="-150" kern="0" dirty="0">
                <a:solidFill>
                  <a:srgbClr val="26282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1902</a:t>
            </a:r>
            <a:endParaRPr lang="zh-CN" sz="3000" dirty="0"/>
          </a:p>
        </p:txBody>
      </p:sp>
      <p:sp>
        <p:nvSpPr>
          <p:cNvPr id="13" name="p6-bear-type"/>
          <p:cNvSpPr/>
          <p:nvPr/>
        </p:nvSpPr>
        <p:spPr>
          <a:xfrm>
            <a:off x="3042047" y="3762375"/>
            <a:ext cx="2001738" cy="217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zh-CN" altLang="en-US" sz="975" spc="150" kern="0" dirty="0">
                <a:solidFill>
                  <a:srgbClr val="B646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陪伴</a:t>
            </a:r>
            <a:endParaRPr lang="zh-CN" sz="975" dirty="0"/>
          </a:p>
        </p:txBody>
      </p:sp>
      <p:sp>
        <p:nvSpPr>
          <p:cNvPr id="14" name="p6-bear-title"/>
          <p:cNvSpPr/>
          <p:nvPr/>
        </p:nvSpPr>
        <p:spPr>
          <a:xfrm>
            <a:off x="3042047" y="4103340"/>
            <a:ext cx="200173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b="1" spc="-37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泰迪熊</a:t>
            </a:r>
            <a:endParaRPr lang="zh-CN" sz="1725" dirty="0"/>
          </a:p>
        </p:txBody>
      </p:sp>
      <p:sp>
        <p:nvSpPr>
          <p:cNvPr id="15" name="p6-bear-body"/>
          <p:cNvSpPr/>
          <p:nvPr/>
        </p:nvSpPr>
        <p:spPr>
          <a:xfrm>
            <a:off x="3042047" y="4552801"/>
            <a:ext cx="2001738" cy="567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35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柔软的伙伴，
</a:t>
            </a:r>
            <a:pPr algn="l" indent="0" marL="0">
              <a:lnSpc>
                <a:spcPts val="2160"/>
              </a:lnSpc>
              <a:buNone/>
            </a:pPr>
            <a:r>
              <a:rPr lang="zh-CN" altLang="en-US" sz="135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拥有了名字与记忆。</a:t>
            </a:r>
            <a:endParaRPr lang="zh-CN" sz="1350" dirty="0"/>
          </a:p>
        </p:txBody>
      </p:sp>
      <p:sp>
        <p:nvSpPr>
          <p:cNvPr id="16" name="p6-brick-date"/>
          <p:cNvSpPr/>
          <p:nvPr/>
        </p:nvSpPr>
        <p:spPr>
          <a:xfrm>
            <a:off x="5253335" y="3162300"/>
            <a:ext cx="2001738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zh-CN" altLang="en-US" sz="3000" spc="-150" kern="0" dirty="0">
                <a:solidFill>
                  <a:srgbClr val="26282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1958</a:t>
            </a:r>
            <a:endParaRPr lang="zh-CN" sz="3000" dirty="0"/>
          </a:p>
        </p:txBody>
      </p:sp>
      <p:sp>
        <p:nvSpPr>
          <p:cNvPr id="17" name="p6-brick-type"/>
          <p:cNvSpPr/>
          <p:nvPr/>
        </p:nvSpPr>
        <p:spPr>
          <a:xfrm>
            <a:off x="5253335" y="3762375"/>
            <a:ext cx="2001738" cy="217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zh-CN" altLang="en-US" sz="975" spc="150" kern="0" dirty="0">
                <a:solidFill>
                  <a:srgbClr val="B646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创造</a:t>
            </a:r>
            <a:endParaRPr lang="zh-CN" sz="975" dirty="0"/>
          </a:p>
        </p:txBody>
      </p:sp>
      <p:sp>
        <p:nvSpPr>
          <p:cNvPr id="18" name="p6-brick-title"/>
          <p:cNvSpPr/>
          <p:nvPr/>
        </p:nvSpPr>
        <p:spPr>
          <a:xfrm>
            <a:off x="5253335" y="4103340"/>
            <a:ext cx="200173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b="1" spc="-37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现代乐高积木</a:t>
            </a:r>
            <a:endParaRPr lang="zh-CN" sz="1725" dirty="0"/>
          </a:p>
        </p:txBody>
      </p:sp>
      <p:sp>
        <p:nvSpPr>
          <p:cNvPr id="19" name="p6-brick-body"/>
          <p:cNvSpPr/>
          <p:nvPr/>
        </p:nvSpPr>
        <p:spPr>
          <a:xfrm>
            <a:off x="5253335" y="4552801"/>
            <a:ext cx="2001738" cy="567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35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可重复拼搭的零件，
</a:t>
            </a:r>
            <a:pPr algn="l" indent="0" marL="0">
              <a:lnSpc>
                <a:spcPts val="2160"/>
              </a:lnSpc>
              <a:buNone/>
            </a:pPr>
            <a:r>
              <a:rPr lang="zh-CN" altLang="en-US" sz="135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留出自由发挥的空间。</a:t>
            </a:r>
            <a:endParaRPr lang="zh-CN" sz="1350" dirty="0"/>
          </a:p>
        </p:txBody>
      </p:sp>
      <p:sp>
        <p:nvSpPr>
          <p:cNvPr id="20" name="p6-gb-date"/>
          <p:cNvSpPr/>
          <p:nvPr/>
        </p:nvSpPr>
        <p:spPr>
          <a:xfrm>
            <a:off x="7464623" y="3162300"/>
            <a:ext cx="2001738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zh-CN" altLang="en-US" sz="3000" spc="-150" kern="0" dirty="0">
                <a:solidFill>
                  <a:srgbClr val="26282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1989</a:t>
            </a:r>
            <a:endParaRPr lang="zh-CN" sz="3000" dirty="0"/>
          </a:p>
        </p:txBody>
      </p:sp>
      <p:sp>
        <p:nvSpPr>
          <p:cNvPr id="21" name="p6-gb-type"/>
          <p:cNvSpPr/>
          <p:nvPr/>
        </p:nvSpPr>
        <p:spPr>
          <a:xfrm>
            <a:off x="7464623" y="3762375"/>
            <a:ext cx="2001738" cy="217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zh-CN" altLang="en-US" sz="975" spc="150" kern="0" dirty="0">
                <a:solidFill>
                  <a:srgbClr val="B646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随身游戏</a:t>
            </a:r>
            <a:endParaRPr lang="zh-CN" sz="975" dirty="0"/>
          </a:p>
        </p:txBody>
      </p:sp>
      <p:sp>
        <p:nvSpPr>
          <p:cNvPr id="22" name="p6-gb-title"/>
          <p:cNvSpPr/>
          <p:nvPr/>
        </p:nvSpPr>
        <p:spPr>
          <a:xfrm>
            <a:off x="7464623" y="4103340"/>
            <a:ext cx="200173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b="1" spc="-37" kern="0" dirty="0">
                <a:solidFill>
                  <a:srgbClr val="262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Game Boy</a:t>
            </a:r>
            <a:endParaRPr lang="zh-CN" sz="1725" dirty="0"/>
          </a:p>
        </p:txBody>
      </p:sp>
      <p:sp>
        <p:nvSpPr>
          <p:cNvPr id="23" name="p6-gb-body"/>
          <p:cNvSpPr/>
          <p:nvPr/>
        </p:nvSpPr>
        <p:spPr>
          <a:xfrm>
            <a:off x="7464623" y="4552801"/>
            <a:ext cx="2001738" cy="567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35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更换卡带，
</a:t>
            </a:r>
            <a:pPr algn="l" indent="0" marL="0">
              <a:lnSpc>
                <a:spcPts val="2160"/>
              </a:lnSpc>
              <a:buNone/>
            </a:pPr>
            <a:r>
              <a:rPr lang="zh-CN" altLang="en-US" sz="135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进入新的游戏世界。</a:t>
            </a:r>
            <a:endParaRPr lang="zh-CN" sz="1350" dirty="0"/>
          </a:p>
        </p:txBody>
      </p:sp>
      <p:sp>
        <p:nvSpPr>
          <p:cNvPr id="24" name="p6-tama-date"/>
          <p:cNvSpPr/>
          <p:nvPr/>
        </p:nvSpPr>
        <p:spPr>
          <a:xfrm>
            <a:off x="9675912" y="3162300"/>
            <a:ext cx="2001589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zh-CN" altLang="en-US" sz="3000" spc="-150" kern="0" dirty="0">
                <a:solidFill>
                  <a:srgbClr val="26282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1996</a:t>
            </a:r>
            <a:endParaRPr lang="zh-CN" sz="3000" dirty="0"/>
          </a:p>
        </p:txBody>
      </p:sp>
      <p:sp>
        <p:nvSpPr>
          <p:cNvPr id="25" name="p6-tama-type"/>
          <p:cNvSpPr/>
          <p:nvPr/>
        </p:nvSpPr>
        <p:spPr>
          <a:xfrm>
            <a:off x="9675912" y="3762375"/>
            <a:ext cx="2001589" cy="217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zh-CN" altLang="en-US" sz="975" spc="150" kern="0" dirty="0">
                <a:solidFill>
                  <a:srgbClr val="B646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持续互动</a:t>
            </a:r>
            <a:endParaRPr lang="zh-CN" sz="975" dirty="0"/>
          </a:p>
        </p:txBody>
      </p:sp>
      <p:sp>
        <p:nvSpPr>
          <p:cNvPr id="26" name="p6-tama-title"/>
          <p:cNvSpPr/>
          <p:nvPr/>
        </p:nvSpPr>
        <p:spPr>
          <a:xfrm>
            <a:off x="9675912" y="4103340"/>
            <a:ext cx="2001589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b="1" spc="-37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拓麻歌子</a:t>
            </a:r>
            <a:endParaRPr lang="zh-CN" sz="1725" dirty="0"/>
          </a:p>
        </p:txBody>
      </p:sp>
      <p:sp>
        <p:nvSpPr>
          <p:cNvPr id="27" name="p6-tama-body"/>
          <p:cNvSpPr/>
          <p:nvPr/>
        </p:nvSpPr>
        <p:spPr>
          <a:xfrm>
            <a:off x="9675912" y="4552801"/>
            <a:ext cx="2001589" cy="567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35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一只虚拟宠物，
</a:t>
            </a:r>
            <a:pPr algn="l" indent="0" marL="0">
              <a:lnSpc>
                <a:spcPts val="2160"/>
              </a:lnSpc>
              <a:buNone/>
            </a:pPr>
            <a:r>
              <a:rPr lang="zh-CN" altLang="en-US" sz="135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需要每天照顾。</a:t>
            </a:r>
            <a:endParaRPr lang="zh-CN" sz="1350" dirty="0"/>
          </a:p>
        </p:txBody>
      </p:sp>
      <p:sp>
        <p:nvSpPr>
          <p:cNvPr id="28" name="p6-note"/>
          <p:cNvSpPr/>
          <p:nvPr/>
        </p:nvSpPr>
        <p:spPr>
          <a:xfrm>
            <a:off x="533400" y="5482382"/>
            <a:ext cx="1114425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zh-CN" altLang="en-US" sz="1050" dirty="0">
                <a:solidFill>
                  <a:srgbClr val="636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选取五个代表性节点，不是完整编年史。日期分别指馆藏时期、命名故事、专利申请或产品上市。[1–5]</a:t>
            </a:r>
            <a:endParaRPr lang="zh-CN" sz="1050" dirty="0"/>
          </a:p>
        </p:txBody>
      </p:sp>
      <p:sp>
        <p:nvSpPr>
          <p:cNvPr id="29" name="foot-border"/>
          <p:cNvSpPr/>
          <p:nvPr/>
        </p:nvSpPr>
        <p:spPr>
          <a:xfrm>
            <a:off x="533400" y="6219825"/>
            <a:ext cx="11125200" cy="0"/>
          </a:xfrm>
          <a:prstGeom prst="line">
            <a:avLst/>
          </a:prstGeom>
          <a:noFill/>
          <a:ln w="9525">
            <a:solidFill>
              <a:srgbClr val="262820">
                <a:alpha val="21000"/>
              </a:srgbClr>
            </a:solidFill>
            <a:prstDash val="solid"/>
          </a:ln>
        </p:spPr>
      </p:sp>
      <p:sp>
        <p:nvSpPr>
          <p:cNvPr id="30" name="p6-footer"/>
          <p:cNvSpPr/>
          <p:nvPr/>
        </p:nvSpPr>
        <p:spPr>
          <a:xfrm>
            <a:off x="533400" y="6381750"/>
            <a:ext cx="188074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00" spc="75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玩具简史 / 五个节点，一条时间线</a:t>
            </a:r>
            <a:endParaRPr lang="zh-CN" sz="900" dirty="0"/>
          </a:p>
        </p:txBody>
      </p:sp>
      <p:sp>
        <p:nvSpPr>
          <p:cNvPr id="31" name="p6-number"/>
          <p:cNvSpPr/>
          <p:nvPr/>
        </p:nvSpPr>
        <p:spPr>
          <a:xfrm>
            <a:off x="11227296" y="6381750"/>
            <a:ext cx="45035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00" spc="75" kern="0" dirty="0">
                <a:solidFill>
                  <a:srgbClr val="262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 / 08</a:t>
            </a:r>
            <a:endParaRPr lang="zh-CN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A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-border"/>
          <p:cNvSpPr/>
          <p:nvPr/>
        </p:nvSpPr>
        <p:spPr>
          <a:xfrm>
            <a:off x="533400" y="781050"/>
            <a:ext cx="11125200" cy="0"/>
          </a:xfrm>
          <a:prstGeom prst="line">
            <a:avLst/>
          </a:prstGeom>
          <a:noFill/>
          <a:ln w="9525">
            <a:solidFill>
              <a:srgbClr val="F7F3E9">
                <a:alpha val="35000"/>
              </a:srgbClr>
            </a:solidFill>
            <a:prstDash val="solid"/>
          </a:ln>
        </p:spPr>
      </p:sp>
      <p:sp>
        <p:nvSpPr>
          <p:cNvPr id="3" name="p7-series"/>
          <p:cNvSpPr/>
          <p:nvPr/>
        </p:nvSpPr>
        <p:spPr>
          <a:xfrm>
            <a:off x="533400" y="419100"/>
            <a:ext cx="169619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75" b="1" spc="225" kern="0" dirty="0">
                <a:solidFill>
                  <a:srgbClr val="F7F3E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PLAY ARCHIVE</a:t>
            </a:r>
            <a:endParaRPr lang="zh-CN" sz="975" dirty="0"/>
          </a:p>
        </p:txBody>
      </p:sp>
      <p:sp>
        <p:nvSpPr>
          <p:cNvPr id="4" name="p7-chapter"/>
          <p:cNvSpPr/>
          <p:nvPr/>
        </p:nvSpPr>
        <p:spPr>
          <a:xfrm>
            <a:off x="10553700" y="419100"/>
            <a:ext cx="11239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75" spc="113" kern="0" dirty="0">
                <a:solidFill>
                  <a:srgbClr val="F7F3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给童年留一个位置</a:t>
            </a:r>
            <a:endParaRPr lang="zh-CN" sz="975" dirty="0"/>
          </a:p>
        </p:txBody>
      </p:sp>
      <p:sp>
        <p:nvSpPr>
          <p:cNvPr id="5" name="p7-kicker"/>
          <p:cNvSpPr/>
          <p:nvPr/>
        </p:nvSpPr>
        <p:spPr>
          <a:xfrm>
            <a:off x="533400" y="1562249"/>
            <a:ext cx="2114550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zh-CN" altLang="en-US" sz="1125" spc="375" kern="0" dirty="0">
                <a:solidFill>
                  <a:srgbClr val="F7F3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留一点时间，想起小时候</a:t>
            </a:r>
            <a:endParaRPr lang="zh-CN" sz="1125" dirty="0"/>
          </a:p>
        </p:txBody>
      </p:sp>
      <p:sp>
        <p:nvSpPr>
          <p:cNvPr id="6" name="p7-title"/>
          <p:cNvSpPr/>
          <p:nvPr/>
        </p:nvSpPr>
        <p:spPr>
          <a:xfrm>
            <a:off x="533400" y="2102793"/>
            <a:ext cx="4953000" cy="1802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20"/>
              </a:lnSpc>
              <a:buNone/>
            </a:pPr>
            <a:r>
              <a:rPr lang="zh-CN" altLang="en-US" sz="5850" b="1" spc="-300" kern="0" dirty="0">
                <a:solidFill>
                  <a:srgbClr val="F7F3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你最想找回的，
</a:t>
            </a:r>
            <a:pPr algn="l" indent="0" marL="0">
              <a:lnSpc>
                <a:spcPts val="7020"/>
              </a:lnSpc>
              <a:buNone/>
            </a:pPr>
            <a:r>
              <a:rPr lang="zh-CN" altLang="en-US" sz="5850" b="1" spc="-300" kern="0" dirty="0">
                <a:solidFill>
                  <a:srgbClr val="F7F3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是哪一件玩具？</a:t>
            </a:r>
            <a:endParaRPr lang="zh-CN" sz="5850" dirty="0"/>
          </a:p>
        </p:txBody>
      </p:sp>
      <p:sp>
        <p:nvSpPr>
          <p:cNvPr id="7" name="p7-question"/>
          <p:cNvSpPr/>
          <p:nvPr/>
        </p:nvSpPr>
        <p:spPr>
          <a:xfrm>
            <a:off x="533400" y="4190554"/>
            <a:ext cx="3829050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94"/>
              </a:lnSpc>
              <a:buNone/>
            </a:pPr>
            <a:r>
              <a:rPr lang="zh-CN" altLang="en-US" sz="1875" dirty="0">
                <a:solidFill>
                  <a:srgbClr val="F7F3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它是什么样子？你当时和谁一起玩？</a:t>
            </a:r>
            <a:endParaRPr lang="zh-CN" sz="1875" dirty="0"/>
          </a:p>
        </p:txBody>
      </p:sp>
      <p:sp>
        <p:nvSpPr>
          <p:cNvPr id="8" name="p7-afterword"/>
          <p:cNvSpPr/>
          <p:nvPr/>
        </p:nvSpPr>
        <p:spPr>
          <a:xfrm>
            <a:off x="533400" y="4888260"/>
            <a:ext cx="3419475" cy="569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7"/>
              </a:lnSpc>
              <a:buNone/>
            </a:pPr>
            <a:r>
              <a:rPr lang="zh-CN" altLang="en-US" sz="1275" dirty="0">
                <a:solidFill>
                  <a:srgbClr val="EFC9B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玩具会记录技术的变化，也会留下个人的故事。
</a:t>
            </a:r>
            <a:pPr algn="l" indent="0" marL="0">
              <a:lnSpc>
                <a:spcPts val="2167"/>
              </a:lnSpc>
              <a:buNone/>
            </a:pPr>
            <a:r>
              <a:rPr lang="zh-CN" altLang="en-US" sz="1275" dirty="0">
                <a:solidFill>
                  <a:srgbClr val="EFC9B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也许我们记得最清楚的，是那个一起玩的下午。</a:t>
            </a:r>
            <a:endParaRPr lang="zh-CN" sz="1275" dirty="0"/>
          </a:p>
        </p:txBody>
      </p:sp>
      <p:sp>
        <p:nvSpPr>
          <p:cNvPr id="9" name="foot-border"/>
          <p:cNvSpPr/>
          <p:nvPr/>
        </p:nvSpPr>
        <p:spPr>
          <a:xfrm>
            <a:off x="533400" y="6219825"/>
            <a:ext cx="11125200" cy="0"/>
          </a:xfrm>
          <a:prstGeom prst="line">
            <a:avLst/>
          </a:prstGeom>
          <a:noFill/>
          <a:ln w="9525">
            <a:solidFill>
              <a:srgbClr val="F7F3E9">
                <a:alpha val="35000"/>
              </a:srgbClr>
            </a:solidFill>
            <a:prstDash val="solid"/>
          </a:ln>
        </p:spPr>
      </p:sp>
      <p:sp>
        <p:nvSpPr>
          <p:cNvPr id="10" name="p7-footer"/>
          <p:cNvSpPr/>
          <p:nvPr/>
        </p:nvSpPr>
        <p:spPr>
          <a:xfrm>
            <a:off x="533400" y="6381750"/>
            <a:ext cx="138544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00" spc="75" kern="0" dirty="0">
                <a:solidFill>
                  <a:srgbClr val="F7F3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玩具简史 / 你的童年收藏</a:t>
            </a:r>
            <a:endParaRPr lang="zh-CN" sz="900" dirty="0"/>
          </a:p>
        </p:txBody>
      </p:sp>
      <p:sp>
        <p:nvSpPr>
          <p:cNvPr id="11" name="p7-number"/>
          <p:cNvSpPr/>
          <p:nvPr/>
        </p:nvSpPr>
        <p:spPr>
          <a:xfrm>
            <a:off x="11227296" y="6381750"/>
            <a:ext cx="45035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00" spc="75" kern="0" dirty="0">
                <a:solidFill>
                  <a:srgbClr val="F7F3E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 / 08</a:t>
            </a:r>
            <a:endParaRPr lang="zh-CN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-border"/>
          <p:cNvSpPr/>
          <p:nvPr/>
        </p:nvSpPr>
        <p:spPr>
          <a:xfrm>
            <a:off x="533400" y="781050"/>
            <a:ext cx="11125200" cy="0"/>
          </a:xfrm>
          <a:prstGeom prst="line">
            <a:avLst/>
          </a:prstGeom>
          <a:noFill/>
          <a:ln w="9525">
            <a:solidFill>
              <a:srgbClr val="262820">
                <a:alpha val="21000"/>
              </a:srgbClr>
            </a:solidFill>
            <a:prstDash val="solid"/>
          </a:ln>
        </p:spPr>
      </p:sp>
      <p:sp>
        <p:nvSpPr>
          <p:cNvPr id="3" name="p8-series"/>
          <p:cNvSpPr/>
          <p:nvPr/>
        </p:nvSpPr>
        <p:spPr>
          <a:xfrm>
            <a:off x="533400" y="419100"/>
            <a:ext cx="169619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75" b="1" spc="225" kern="0" dirty="0">
                <a:solidFill>
                  <a:srgbClr val="262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PLAY ARCHIVE</a:t>
            </a:r>
            <a:endParaRPr lang="zh-CN" sz="975" dirty="0"/>
          </a:p>
        </p:txBody>
      </p:sp>
      <p:sp>
        <p:nvSpPr>
          <p:cNvPr id="4" name="p8-chapter"/>
          <p:cNvSpPr/>
          <p:nvPr/>
        </p:nvSpPr>
        <p:spPr>
          <a:xfrm>
            <a:off x="11106150" y="419100"/>
            <a:ext cx="5715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75" spc="113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继续探索</a:t>
            </a:r>
            <a:endParaRPr lang="zh-CN" sz="975" dirty="0"/>
          </a:p>
        </p:txBody>
      </p:sp>
      <p:sp>
        <p:nvSpPr>
          <p:cNvPr id="5" name="p8-title"/>
          <p:cNvSpPr/>
          <p:nvPr/>
        </p:nvSpPr>
        <p:spPr>
          <a:xfrm>
            <a:off x="533400" y="1028700"/>
            <a:ext cx="11144250" cy="460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zh-CN" altLang="en-US" sz="3000" b="1" spc="-150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资料与图像说明</a:t>
            </a:r>
            <a:endParaRPr lang="zh-CN" sz="3000" dirty="0"/>
          </a:p>
        </p:txBody>
      </p:sp>
      <p:sp>
        <p:nvSpPr>
          <p:cNvPr id="6" name="p8-source1-border"/>
          <p:cNvSpPr/>
          <p:nvPr/>
        </p:nvSpPr>
        <p:spPr>
          <a:xfrm>
            <a:off x="533400" y="2799308"/>
            <a:ext cx="5295900" cy="0"/>
          </a:xfrm>
          <a:prstGeom prst="line">
            <a:avLst/>
          </a:prstGeom>
          <a:noFill/>
          <a:ln w="9525">
            <a:solidFill>
              <a:srgbClr val="262820">
                <a:alpha val="21000"/>
              </a:srgbClr>
            </a:solidFill>
            <a:prstDash val="solid"/>
          </a:ln>
        </p:spPr>
      </p:sp>
      <p:sp>
        <p:nvSpPr>
          <p:cNvPr id="7" name="p8-source1-tag"/>
          <p:cNvSpPr/>
          <p:nvPr/>
        </p:nvSpPr>
        <p:spPr>
          <a:xfrm>
            <a:off x="533400" y="1680121"/>
            <a:ext cx="53149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900" spc="150" kern="0" dirty="0">
                <a:solidFill>
                  <a:srgbClr val="B646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参考 1</a:t>
            </a:r>
            <a:endParaRPr lang="zh-CN" sz="900" dirty="0"/>
          </a:p>
        </p:txBody>
      </p:sp>
      <p:sp>
        <p:nvSpPr>
          <p:cNvPr id="8" name="p8-source1-title"/>
          <p:cNvSpPr/>
          <p:nvPr/>
        </p:nvSpPr>
        <p:spPr>
          <a:xfrm>
            <a:off x="533400" y="1899196"/>
            <a:ext cx="53149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zh-CN" altLang="en-US" sz="1500" b="1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古代带轮木马</a:t>
            </a:r>
            <a:endParaRPr lang="zh-CN" sz="1500" dirty="0"/>
          </a:p>
        </p:txBody>
      </p:sp>
      <p:sp>
        <p:nvSpPr>
          <p:cNvPr id="9" name="p8-source1-detail"/>
          <p:cNvSpPr/>
          <p:nvPr/>
        </p:nvSpPr>
        <p:spPr>
          <a:xfrm>
            <a:off x="533400" y="2213521"/>
            <a:ext cx="5314950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zh-CN" altLang="en-US" sz="1125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馆藏材料、结构与罗马时期的年代范围。</a:t>
            </a:r>
            <a:endParaRPr lang="zh-CN" sz="1125" dirty="0"/>
          </a:p>
        </p:txBody>
      </p:sp>
      <p:sp>
        <p:nvSpPr>
          <p:cNvPr id="10" name="p8-source1-link">
            <a:hlinkClick r:id="rIdundefined" tooltip=""/>
          </p:cNvPr>
          <p:cNvSpPr/>
          <p:nvPr/>
        </p:nvSpPr>
        <p:spPr>
          <a:xfrm>
            <a:off x="533400" y="2475458"/>
            <a:ext cx="53149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zh-CN" altLang="en-US" sz="975" u="sng" dirty="0">
                <a:solidFill>
                  <a:srgbClr val="262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Bristol Museums / Toy, H1794</a:t>
            </a:r>
            <a:endParaRPr lang="zh-CN" sz="975" dirty="0"/>
          </a:p>
        </p:txBody>
      </p:sp>
      <p:sp>
        <p:nvSpPr>
          <p:cNvPr id="11" name="p8-source2-border"/>
          <p:cNvSpPr/>
          <p:nvPr/>
        </p:nvSpPr>
        <p:spPr>
          <a:xfrm>
            <a:off x="6362700" y="2799308"/>
            <a:ext cx="5295900" cy="0"/>
          </a:xfrm>
          <a:prstGeom prst="line">
            <a:avLst/>
          </a:prstGeom>
          <a:noFill/>
          <a:ln w="9525">
            <a:solidFill>
              <a:srgbClr val="262820">
                <a:alpha val="21000"/>
              </a:srgbClr>
            </a:solidFill>
            <a:prstDash val="solid"/>
          </a:ln>
        </p:spPr>
      </p:sp>
      <p:sp>
        <p:nvSpPr>
          <p:cNvPr id="12" name="p8-source2-tag"/>
          <p:cNvSpPr/>
          <p:nvPr/>
        </p:nvSpPr>
        <p:spPr>
          <a:xfrm>
            <a:off x="6362700" y="1680121"/>
            <a:ext cx="53149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900" spc="150" kern="0" dirty="0">
                <a:solidFill>
                  <a:srgbClr val="B646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参考 2</a:t>
            </a:r>
            <a:endParaRPr lang="zh-CN" sz="900" dirty="0"/>
          </a:p>
        </p:txBody>
      </p:sp>
      <p:sp>
        <p:nvSpPr>
          <p:cNvPr id="13" name="p8-source2-title"/>
          <p:cNvSpPr/>
          <p:nvPr/>
        </p:nvSpPr>
        <p:spPr>
          <a:xfrm>
            <a:off x="6362700" y="1899196"/>
            <a:ext cx="53149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zh-CN" altLang="en-US" sz="1500" b="1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泰迪熊的命名故事</a:t>
            </a:r>
            <a:endParaRPr lang="zh-CN" sz="1500" dirty="0"/>
          </a:p>
        </p:txBody>
      </p:sp>
      <p:sp>
        <p:nvSpPr>
          <p:cNvPr id="14" name="p8-source2-detail"/>
          <p:cNvSpPr/>
          <p:nvPr/>
        </p:nvSpPr>
        <p:spPr>
          <a:xfrm>
            <a:off x="6362700" y="2213521"/>
            <a:ext cx="5314950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zh-CN" altLang="en-US" sz="1125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1902 年的罗斯福狩猎事件与漫画传播。</a:t>
            </a:r>
            <a:endParaRPr lang="zh-CN" sz="1125" dirty="0"/>
          </a:p>
        </p:txBody>
      </p:sp>
      <p:sp>
        <p:nvSpPr>
          <p:cNvPr id="15" name="p8-source2-link">
            <a:hlinkClick r:id="rIdundefined" tooltip=""/>
          </p:cNvPr>
          <p:cNvSpPr/>
          <p:nvPr/>
        </p:nvSpPr>
        <p:spPr>
          <a:xfrm>
            <a:off x="6362700" y="2475458"/>
            <a:ext cx="53149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zh-CN" altLang="en-US" sz="975" u="sng" dirty="0">
                <a:solidFill>
                  <a:srgbClr val="262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Smithsonian / Teddy Bear</a:t>
            </a:r>
            <a:endParaRPr lang="zh-CN" sz="975" dirty="0"/>
          </a:p>
        </p:txBody>
      </p:sp>
      <p:sp>
        <p:nvSpPr>
          <p:cNvPr id="16" name="p8-source3-border"/>
          <p:cNvSpPr/>
          <p:nvPr/>
        </p:nvSpPr>
        <p:spPr>
          <a:xfrm>
            <a:off x="533400" y="4128046"/>
            <a:ext cx="5295900" cy="0"/>
          </a:xfrm>
          <a:prstGeom prst="line">
            <a:avLst/>
          </a:prstGeom>
          <a:noFill/>
          <a:ln w="9525">
            <a:solidFill>
              <a:srgbClr val="262820">
                <a:alpha val="21000"/>
              </a:srgbClr>
            </a:solidFill>
            <a:prstDash val="solid"/>
          </a:ln>
        </p:spPr>
      </p:sp>
      <p:sp>
        <p:nvSpPr>
          <p:cNvPr id="17" name="p8-source3-tag"/>
          <p:cNvSpPr/>
          <p:nvPr/>
        </p:nvSpPr>
        <p:spPr>
          <a:xfrm>
            <a:off x="533400" y="3008858"/>
            <a:ext cx="53149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900" spc="150" kern="0" dirty="0">
                <a:solidFill>
                  <a:srgbClr val="B646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参考 3</a:t>
            </a:r>
            <a:endParaRPr lang="zh-CN" sz="900" dirty="0"/>
          </a:p>
        </p:txBody>
      </p:sp>
      <p:sp>
        <p:nvSpPr>
          <p:cNvPr id="18" name="p8-source3-title"/>
          <p:cNvSpPr/>
          <p:nvPr/>
        </p:nvSpPr>
        <p:spPr>
          <a:xfrm>
            <a:off x="533400" y="3227933"/>
            <a:ext cx="53149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zh-CN" altLang="en-US" sz="1500" b="1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乐高积木连接结构</a:t>
            </a:r>
            <a:endParaRPr lang="zh-CN" sz="1500" dirty="0"/>
          </a:p>
        </p:txBody>
      </p:sp>
      <p:sp>
        <p:nvSpPr>
          <p:cNvPr id="19" name="p8-source3-detail"/>
          <p:cNvSpPr/>
          <p:nvPr/>
        </p:nvSpPr>
        <p:spPr>
          <a:xfrm>
            <a:off x="533400" y="3542258"/>
            <a:ext cx="5314950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zh-CN" altLang="en-US" sz="1125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1958 年 1 月 28 日提交专利申请。</a:t>
            </a:r>
            <a:endParaRPr lang="zh-CN" sz="1125" dirty="0"/>
          </a:p>
        </p:txBody>
      </p:sp>
      <p:sp>
        <p:nvSpPr>
          <p:cNvPr id="20" name="p8-source3-link">
            <a:hlinkClick r:id="rIdundefined" tooltip=""/>
          </p:cNvPr>
          <p:cNvSpPr/>
          <p:nvPr/>
        </p:nvSpPr>
        <p:spPr>
          <a:xfrm>
            <a:off x="533400" y="3804196"/>
            <a:ext cx="53149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zh-CN" altLang="en-US" sz="975" u="sng" dirty="0">
                <a:solidFill>
                  <a:srgbClr val="262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LEGO / The stud and tube principle</a:t>
            </a:r>
            <a:endParaRPr lang="zh-CN" sz="975" dirty="0"/>
          </a:p>
        </p:txBody>
      </p:sp>
      <p:sp>
        <p:nvSpPr>
          <p:cNvPr id="21" name="p8-source4-border"/>
          <p:cNvSpPr/>
          <p:nvPr/>
        </p:nvSpPr>
        <p:spPr>
          <a:xfrm>
            <a:off x="6362700" y="4128046"/>
            <a:ext cx="5295900" cy="0"/>
          </a:xfrm>
          <a:prstGeom prst="line">
            <a:avLst/>
          </a:prstGeom>
          <a:noFill/>
          <a:ln w="9525">
            <a:solidFill>
              <a:srgbClr val="262820">
                <a:alpha val="21000"/>
              </a:srgbClr>
            </a:solidFill>
            <a:prstDash val="solid"/>
          </a:ln>
        </p:spPr>
      </p:sp>
      <p:sp>
        <p:nvSpPr>
          <p:cNvPr id="22" name="p8-source4-tag"/>
          <p:cNvSpPr/>
          <p:nvPr/>
        </p:nvSpPr>
        <p:spPr>
          <a:xfrm>
            <a:off x="6362700" y="3008858"/>
            <a:ext cx="53149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900" spc="150" kern="0" dirty="0">
                <a:solidFill>
                  <a:srgbClr val="B646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参考 4</a:t>
            </a:r>
            <a:endParaRPr lang="zh-CN" sz="900" dirty="0"/>
          </a:p>
        </p:txBody>
      </p:sp>
      <p:sp>
        <p:nvSpPr>
          <p:cNvPr id="23" name="p8-source4-title"/>
          <p:cNvSpPr/>
          <p:nvPr/>
        </p:nvSpPr>
        <p:spPr>
          <a:xfrm>
            <a:off x="6362700" y="3227933"/>
            <a:ext cx="53149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zh-CN" altLang="en-US" sz="1500" b="1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Game Boy 的上市</a:t>
            </a:r>
            <a:endParaRPr lang="zh-CN" sz="1500" dirty="0"/>
          </a:p>
        </p:txBody>
      </p:sp>
      <p:sp>
        <p:nvSpPr>
          <p:cNvPr id="24" name="p8-source4-detail"/>
          <p:cNvSpPr/>
          <p:nvPr/>
        </p:nvSpPr>
        <p:spPr>
          <a:xfrm>
            <a:off x="6362700" y="3542258"/>
            <a:ext cx="5314950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zh-CN" altLang="en-US" sz="1125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1989 年在日本推出，以及卡带式游戏。</a:t>
            </a:r>
            <a:endParaRPr lang="zh-CN" sz="1125" dirty="0"/>
          </a:p>
        </p:txBody>
      </p:sp>
      <p:sp>
        <p:nvSpPr>
          <p:cNvPr id="25" name="p8-source4-link">
            <a:hlinkClick r:id="rIdundefined" tooltip=""/>
          </p:cNvPr>
          <p:cNvSpPr/>
          <p:nvPr/>
        </p:nvSpPr>
        <p:spPr>
          <a:xfrm>
            <a:off x="6362700" y="3804196"/>
            <a:ext cx="53149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zh-CN" altLang="en-US" sz="975" u="sng" dirty="0">
                <a:solidFill>
                  <a:srgbClr val="262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Nintendo / Game Boy</a:t>
            </a:r>
            <a:endParaRPr lang="zh-CN" sz="975" dirty="0"/>
          </a:p>
        </p:txBody>
      </p:sp>
      <p:sp>
        <p:nvSpPr>
          <p:cNvPr id="26" name="p8-source5-border"/>
          <p:cNvSpPr/>
          <p:nvPr/>
        </p:nvSpPr>
        <p:spPr>
          <a:xfrm>
            <a:off x="533400" y="5456783"/>
            <a:ext cx="5295900" cy="0"/>
          </a:xfrm>
          <a:prstGeom prst="line">
            <a:avLst/>
          </a:prstGeom>
          <a:noFill/>
          <a:ln w="9525">
            <a:solidFill>
              <a:srgbClr val="262820">
                <a:alpha val="21000"/>
              </a:srgbClr>
            </a:solidFill>
            <a:prstDash val="solid"/>
          </a:ln>
        </p:spPr>
      </p:sp>
      <p:sp>
        <p:nvSpPr>
          <p:cNvPr id="27" name="p8-source5-tag"/>
          <p:cNvSpPr/>
          <p:nvPr/>
        </p:nvSpPr>
        <p:spPr>
          <a:xfrm>
            <a:off x="533400" y="4337596"/>
            <a:ext cx="53149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900" spc="150" kern="0" dirty="0">
                <a:solidFill>
                  <a:srgbClr val="B646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参考 5</a:t>
            </a:r>
            <a:endParaRPr lang="zh-CN" sz="900" dirty="0"/>
          </a:p>
        </p:txBody>
      </p:sp>
      <p:sp>
        <p:nvSpPr>
          <p:cNvPr id="28" name="p8-source5-title"/>
          <p:cNvSpPr/>
          <p:nvPr/>
        </p:nvSpPr>
        <p:spPr>
          <a:xfrm>
            <a:off x="533400" y="4556671"/>
            <a:ext cx="53149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zh-CN" altLang="en-US" sz="1500" b="1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拓麻歌子的上市</a:t>
            </a:r>
            <a:endParaRPr lang="zh-CN" sz="1500" dirty="0"/>
          </a:p>
        </p:txBody>
      </p:sp>
      <p:sp>
        <p:nvSpPr>
          <p:cNvPr id="29" name="p8-source5-detail"/>
          <p:cNvSpPr/>
          <p:nvPr/>
        </p:nvSpPr>
        <p:spPr>
          <a:xfrm>
            <a:off x="533400" y="4870996"/>
            <a:ext cx="5314950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zh-CN" altLang="en-US" sz="1125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1996 年 11 月 23 日在日本上市。</a:t>
            </a:r>
            <a:endParaRPr lang="zh-CN" sz="1125" dirty="0"/>
          </a:p>
        </p:txBody>
      </p:sp>
      <p:sp>
        <p:nvSpPr>
          <p:cNvPr id="30" name="p8-source5-link">
            <a:hlinkClick r:id="rIdundefined" tooltip=""/>
          </p:cNvPr>
          <p:cNvSpPr/>
          <p:nvPr/>
        </p:nvSpPr>
        <p:spPr>
          <a:xfrm>
            <a:off x="533400" y="5132933"/>
            <a:ext cx="53149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zh-CN" altLang="en-US" sz="975" u="sng" dirty="0">
                <a:solidFill>
                  <a:srgbClr val="262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Bandai / 20th Anniversary press release</a:t>
            </a:r>
            <a:endParaRPr lang="zh-CN" sz="975" dirty="0"/>
          </a:p>
        </p:txBody>
      </p:sp>
      <p:sp>
        <p:nvSpPr>
          <p:cNvPr id="31" name="p8-illustrations-border"/>
          <p:cNvSpPr/>
          <p:nvPr/>
        </p:nvSpPr>
        <p:spPr>
          <a:xfrm>
            <a:off x="6362700" y="5456783"/>
            <a:ext cx="5295900" cy="0"/>
          </a:xfrm>
          <a:prstGeom prst="line">
            <a:avLst/>
          </a:prstGeom>
          <a:noFill/>
          <a:ln w="9525">
            <a:solidFill>
              <a:srgbClr val="262820">
                <a:alpha val="21000"/>
              </a:srgbClr>
            </a:solidFill>
            <a:prstDash val="solid"/>
          </a:ln>
        </p:spPr>
      </p:sp>
      <p:sp>
        <p:nvSpPr>
          <p:cNvPr id="32" name="p8-illustrations-tag"/>
          <p:cNvSpPr/>
          <p:nvPr/>
        </p:nvSpPr>
        <p:spPr>
          <a:xfrm>
            <a:off x="6362700" y="4337596"/>
            <a:ext cx="53149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900" spc="150" kern="0" dirty="0">
                <a:solidFill>
                  <a:srgbClr val="B646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图像说明</a:t>
            </a:r>
            <a:endParaRPr lang="zh-CN" sz="900" dirty="0"/>
          </a:p>
        </p:txBody>
      </p:sp>
      <p:sp>
        <p:nvSpPr>
          <p:cNvPr id="33" name="p8-illustrations-title"/>
          <p:cNvSpPr/>
          <p:nvPr/>
        </p:nvSpPr>
        <p:spPr>
          <a:xfrm>
            <a:off x="6362700" y="4556671"/>
            <a:ext cx="53149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zh-CN" altLang="en-US" sz="1500" b="1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四幅 AI 生成静物插图</a:t>
            </a:r>
            <a:endParaRPr lang="zh-CN" sz="1500" dirty="0"/>
          </a:p>
        </p:txBody>
      </p:sp>
      <p:sp>
        <p:nvSpPr>
          <p:cNvPr id="34" name="p8-illustrations-detail"/>
          <p:cNvSpPr/>
          <p:nvPr/>
        </p:nvSpPr>
        <p:spPr>
          <a:xfrm>
            <a:off x="6362700" y="4870996"/>
            <a:ext cx="5314950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zh-CN" altLang="en-US" sz="1125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为叙事绘制的现代示意，非馆藏实物照片。
</a:t>
            </a:r>
            <a:pPr algn="l" indent="0" marL="0">
              <a:lnSpc>
                <a:spcPts val="1688"/>
              </a:lnSpc>
              <a:buNone/>
            </a:pPr>
            <a:r>
              <a:rPr lang="zh-CN" altLang="en-US" sz="1125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不以图像细节作为历史考证依据。</a:t>
            </a:r>
            <a:endParaRPr lang="zh-CN" sz="1125" dirty="0"/>
          </a:p>
        </p:txBody>
      </p:sp>
      <p:sp>
        <p:nvSpPr>
          <p:cNvPr id="35" name="p8-note"/>
          <p:cNvSpPr/>
          <p:nvPr/>
        </p:nvSpPr>
        <p:spPr>
          <a:xfrm>
            <a:off x="533400" y="5666333"/>
            <a:ext cx="9925050" cy="47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zh-CN" altLang="en-US" sz="1050" dirty="0">
                <a:solidFill>
                  <a:srgbClr val="636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本演示以少量代表性玩具串联历史，未覆盖所有地区与品类。“模仿、陪伴、创造、互动”为本稿的叙事归纳，
</a:t>
            </a:r>
            <a:pPr algn="l" indent="0" marL="0">
              <a:lnSpc>
                <a:spcPts val="1785"/>
              </a:lnSpc>
              <a:buNone/>
            </a:pPr>
            <a:r>
              <a:rPr lang="zh-CN" altLang="en-US" sz="1050" dirty="0">
                <a:solidFill>
                  <a:srgbClr val="636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并非互斥的历史阶段。资料核对：2026 年 10 月。部分来源站点可能暂时维护，可按机构及标题检索。</a:t>
            </a:r>
            <a:endParaRPr lang="zh-CN" sz="1050" dirty="0"/>
          </a:p>
        </p:txBody>
      </p:sp>
      <p:sp>
        <p:nvSpPr>
          <p:cNvPr id="36" name="foot-border"/>
          <p:cNvSpPr/>
          <p:nvPr/>
        </p:nvSpPr>
        <p:spPr>
          <a:xfrm>
            <a:off x="533400" y="6219825"/>
            <a:ext cx="11125200" cy="0"/>
          </a:xfrm>
          <a:prstGeom prst="line">
            <a:avLst/>
          </a:prstGeom>
          <a:noFill/>
          <a:ln w="9525">
            <a:solidFill>
              <a:srgbClr val="262820">
                <a:alpha val="21000"/>
              </a:srgbClr>
            </a:solidFill>
            <a:prstDash val="solid"/>
          </a:ln>
        </p:spPr>
      </p:sp>
      <p:sp>
        <p:nvSpPr>
          <p:cNvPr id="37" name="p8-footer"/>
          <p:cNvSpPr/>
          <p:nvPr/>
        </p:nvSpPr>
        <p:spPr>
          <a:xfrm>
            <a:off x="533400" y="6381750"/>
            <a:ext cx="150926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00" spc="75" kern="0" dirty="0">
                <a:solidFill>
                  <a:srgbClr val="262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玩具简史 / 资料与图像说明</a:t>
            </a:r>
            <a:endParaRPr lang="zh-CN" sz="900" dirty="0"/>
          </a:p>
        </p:txBody>
      </p:sp>
      <p:sp>
        <p:nvSpPr>
          <p:cNvPr id="38" name="p8-number"/>
          <p:cNvSpPr/>
          <p:nvPr/>
        </p:nvSpPr>
        <p:spPr>
          <a:xfrm>
            <a:off x="11227296" y="6381750"/>
            <a:ext cx="45035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zh-CN" altLang="en-US" sz="900" spc="75" kern="0" dirty="0">
                <a:solidFill>
                  <a:srgbClr val="262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08 / 08</a:t>
            </a:r>
            <a:endParaRPr lang="zh-CN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玩具简史</dc:title>
  <dc:subject>HTML 画板导出（可编辑文字与图片）</dc:subject>
  <dc:creator>HTML Design</dc:creator>
  <cp:lastModifiedBy>HTML Design</cp:lastModifiedBy>
  <cp:revision>1</cp:revision>
  <dcterms:created xsi:type="dcterms:W3CDTF">2026-10-28T00:19:09Z</dcterms:created>
  <dcterms:modified xsi:type="dcterms:W3CDTF">2026-10-28T00:19:09Z</dcterms:modified>
</cp:coreProperties>
</file>